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" y="22860"/>
            <a:ext cx="8329295" cy="520700"/>
          </a:xfrm>
          <a:custGeom>
            <a:avLst/>
            <a:gdLst/>
            <a:ahLst/>
            <a:cxnLst/>
            <a:rect l="l" t="t" r="r" b="b"/>
            <a:pathLst>
              <a:path w="8329295" h="520700">
                <a:moveTo>
                  <a:pt x="8328899" y="520499"/>
                </a:moveTo>
                <a:lnTo>
                  <a:pt x="0" y="520499"/>
                </a:lnTo>
                <a:lnTo>
                  <a:pt x="0" y="0"/>
                </a:lnTo>
                <a:lnTo>
                  <a:pt x="8328899" y="0"/>
                </a:lnTo>
                <a:lnTo>
                  <a:pt x="8328899" y="520499"/>
                </a:lnTo>
                <a:close/>
              </a:path>
            </a:pathLst>
          </a:custGeom>
          <a:solidFill>
            <a:srgbClr val="0037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" y="22860"/>
            <a:ext cx="8329295" cy="520700"/>
          </a:xfrm>
          <a:custGeom>
            <a:avLst/>
            <a:gdLst/>
            <a:ahLst/>
            <a:cxnLst/>
            <a:rect l="l" t="t" r="r" b="b"/>
            <a:pathLst>
              <a:path w="8329295" h="520700">
                <a:moveTo>
                  <a:pt x="0" y="0"/>
                </a:moveTo>
                <a:lnTo>
                  <a:pt x="8328899" y="0"/>
                </a:lnTo>
                <a:lnTo>
                  <a:pt x="83288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317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9119" y="4993676"/>
            <a:ext cx="7934959" cy="0"/>
          </a:xfrm>
          <a:custGeom>
            <a:avLst/>
            <a:gdLst/>
            <a:ahLst/>
            <a:cxnLst/>
            <a:rect l="l" t="t" r="r" b="b"/>
            <a:pathLst>
              <a:path w="7934959">
                <a:moveTo>
                  <a:pt x="0" y="0"/>
                </a:moveTo>
                <a:lnTo>
                  <a:pt x="7934959" y="0"/>
                </a:lnTo>
              </a:path>
            </a:pathLst>
          </a:custGeom>
          <a:ln w="9524">
            <a:solidFill>
              <a:srgbClr val="0054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4152" y="75338"/>
            <a:ext cx="255587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5493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" y="22860"/>
            <a:ext cx="8329295" cy="520700"/>
          </a:xfrm>
          <a:custGeom>
            <a:avLst/>
            <a:gdLst/>
            <a:ahLst/>
            <a:cxnLst/>
            <a:rect l="l" t="t" r="r" b="b"/>
            <a:pathLst>
              <a:path w="8329295" h="520700">
                <a:moveTo>
                  <a:pt x="8328752" y="520547"/>
                </a:moveTo>
                <a:lnTo>
                  <a:pt x="0" y="520547"/>
                </a:lnTo>
                <a:lnTo>
                  <a:pt x="0" y="0"/>
                </a:lnTo>
                <a:lnTo>
                  <a:pt x="8328752" y="0"/>
                </a:lnTo>
                <a:lnTo>
                  <a:pt x="8328752" y="520547"/>
                </a:lnTo>
                <a:close/>
              </a:path>
            </a:pathLst>
          </a:custGeom>
          <a:solidFill>
            <a:srgbClr val="0037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" y="22860"/>
            <a:ext cx="8329295" cy="520700"/>
          </a:xfrm>
          <a:custGeom>
            <a:avLst/>
            <a:gdLst/>
            <a:ahLst/>
            <a:cxnLst/>
            <a:rect l="l" t="t" r="r" b="b"/>
            <a:pathLst>
              <a:path w="8329295" h="520700">
                <a:moveTo>
                  <a:pt x="0" y="0"/>
                </a:moveTo>
                <a:lnTo>
                  <a:pt x="8328752" y="0"/>
                </a:lnTo>
                <a:lnTo>
                  <a:pt x="8328752" y="520547"/>
                </a:lnTo>
                <a:lnTo>
                  <a:pt x="0" y="520547"/>
                </a:lnTo>
                <a:lnTo>
                  <a:pt x="0" y="0"/>
                </a:lnTo>
                <a:close/>
              </a:path>
            </a:pathLst>
          </a:custGeom>
          <a:ln w="317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9119" y="4993676"/>
            <a:ext cx="7934959" cy="0"/>
          </a:xfrm>
          <a:custGeom>
            <a:avLst/>
            <a:gdLst/>
            <a:ahLst/>
            <a:cxnLst/>
            <a:rect l="l" t="t" r="r" b="b"/>
            <a:pathLst>
              <a:path w="7934959">
                <a:moveTo>
                  <a:pt x="0" y="0"/>
                </a:moveTo>
                <a:lnTo>
                  <a:pt x="7934959" y="0"/>
                </a:lnTo>
              </a:path>
            </a:pathLst>
          </a:custGeom>
          <a:ln w="9524">
            <a:solidFill>
              <a:srgbClr val="0054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5493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5493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" y="22860"/>
            <a:ext cx="8329295" cy="520700"/>
          </a:xfrm>
          <a:custGeom>
            <a:avLst/>
            <a:gdLst/>
            <a:ahLst/>
            <a:cxnLst/>
            <a:rect l="l" t="t" r="r" b="b"/>
            <a:pathLst>
              <a:path w="8329295" h="520700">
                <a:moveTo>
                  <a:pt x="8328752" y="520547"/>
                </a:moveTo>
                <a:lnTo>
                  <a:pt x="0" y="520547"/>
                </a:lnTo>
                <a:lnTo>
                  <a:pt x="0" y="0"/>
                </a:lnTo>
                <a:lnTo>
                  <a:pt x="8328752" y="0"/>
                </a:lnTo>
                <a:lnTo>
                  <a:pt x="8328752" y="520547"/>
                </a:lnTo>
                <a:close/>
              </a:path>
            </a:pathLst>
          </a:custGeom>
          <a:solidFill>
            <a:srgbClr val="0037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" y="22860"/>
            <a:ext cx="8329295" cy="520700"/>
          </a:xfrm>
          <a:custGeom>
            <a:avLst/>
            <a:gdLst/>
            <a:ahLst/>
            <a:cxnLst/>
            <a:rect l="l" t="t" r="r" b="b"/>
            <a:pathLst>
              <a:path w="8329295" h="520700">
                <a:moveTo>
                  <a:pt x="0" y="0"/>
                </a:moveTo>
                <a:lnTo>
                  <a:pt x="8328752" y="0"/>
                </a:lnTo>
                <a:lnTo>
                  <a:pt x="8328752" y="520547"/>
                </a:lnTo>
                <a:lnTo>
                  <a:pt x="0" y="520547"/>
                </a:lnTo>
                <a:lnTo>
                  <a:pt x="0" y="0"/>
                </a:lnTo>
                <a:close/>
              </a:path>
            </a:pathLst>
          </a:custGeom>
          <a:ln w="317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9119" y="4993676"/>
            <a:ext cx="7934959" cy="0"/>
          </a:xfrm>
          <a:custGeom>
            <a:avLst/>
            <a:gdLst/>
            <a:ahLst/>
            <a:cxnLst/>
            <a:rect l="l" t="t" r="r" b="b"/>
            <a:pathLst>
              <a:path w="7934959">
                <a:moveTo>
                  <a:pt x="0" y="0"/>
                </a:moveTo>
                <a:lnTo>
                  <a:pt x="7934959" y="0"/>
                </a:lnTo>
              </a:path>
            </a:pathLst>
          </a:custGeom>
          <a:ln w="9524">
            <a:solidFill>
              <a:srgbClr val="0054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5493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5493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153" y="75362"/>
            <a:ext cx="67303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143" y="1982392"/>
            <a:ext cx="6350000" cy="241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50359" y="4980354"/>
            <a:ext cx="4448809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1902" y="5016566"/>
            <a:ext cx="19367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5493"/>
                </a:solidFill>
                <a:latin typeface="Times New Roman"/>
                <a:cs typeface="Times New Roman"/>
              </a:defRPr>
            </a:lvl1pPr>
          </a:lstStyle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nehaanbhawal/resume-dataset?utm_source=chatgpt.com" TargetMode="External"/><Relationship Id="rId2" Type="http://schemas.openxmlformats.org/officeDocument/2006/relationships/hyperlink" Target="https://resumeworded.com/resume-templat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ShashiVish/cover-letter-dataset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jerr.com/index.php/JERR/article/view/1489" TargetMode="External"/><Relationship Id="rId7" Type="http://schemas.openxmlformats.org/officeDocument/2006/relationships/hyperlink" Target="https://www.researchgate.net/publication/389461890_GPT-3-Based_AI_Cover_Letter_Generator_A_Feasibility_Study_Implementation" TargetMode="External"/><Relationship Id="rId2" Type="http://schemas.openxmlformats.org/officeDocument/2006/relationships/hyperlink" Target="https://arxiv.org/abs/2508.11873v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rjmets.com/upload_newfiles/irjmets70700103353/paper_file/irjmets70700103353.pdf" TargetMode="External"/><Relationship Id="rId5" Type="http://schemas.openxmlformats.org/officeDocument/2006/relationships/hyperlink" Target="https://irjaeh.com/index.php/journal/article/view/994" TargetMode="External"/><Relationship Id="rId4" Type="http://schemas.openxmlformats.org/officeDocument/2006/relationships/hyperlink" Target="https://ijsrem.com/download/ai-friendly-resume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87922476_Resume_Parsing_and_Skill_Extraction_using_Custom_Pattern_Matching_algorithm_and_Gemini_API" TargetMode="External"/><Relationship Id="rId2" Type="http://schemas.openxmlformats.org/officeDocument/2006/relationships/hyperlink" Target="http://www.ijnrd.org/papers/IJNRD2501308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pers.ssrn.com/sol3/papers.cfm?abstract_id=4932790" TargetMode="External"/><Relationship Id="rId4" Type="http://schemas.openxmlformats.org/officeDocument/2006/relationships/hyperlink" Target="https://ijnrd.org/viewpaperforall.php?paper=IJNRD2506063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jnrd.org/papers/IJNRD2504150.pdf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303.08774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2633534"/>
            <a:ext cx="9144000" cy="570230"/>
          </a:xfrm>
          <a:prstGeom prst="rect">
            <a:avLst/>
          </a:prstGeom>
          <a:solidFill>
            <a:srgbClr val="0037A4"/>
          </a:solidFill>
          <a:ln w="19049">
            <a:solidFill>
              <a:srgbClr val="CACACA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9"/>
              </a:spcBef>
            </a:pP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AI-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Powered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Career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Growth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Productivity</a:t>
            </a:r>
            <a:r>
              <a:rPr sz="20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911" y="692704"/>
            <a:ext cx="8700135" cy="1782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Department</a:t>
            </a:r>
            <a:r>
              <a:rPr sz="2000" b="1" spc="-3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Computer</a:t>
            </a:r>
            <a:r>
              <a:rPr sz="2000" b="1" spc="-25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Science</a:t>
            </a:r>
            <a:r>
              <a:rPr sz="2000" b="1" spc="-3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and</a:t>
            </a:r>
            <a:r>
              <a:rPr sz="2000" b="1" spc="-3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25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and</a:t>
            </a:r>
            <a:r>
              <a:rPr sz="2000" b="1" spc="-3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99"/>
                </a:solidFill>
                <a:latin typeface="Times New Roman"/>
                <a:cs typeface="Times New Roman"/>
              </a:rPr>
              <a:t>Information</a:t>
            </a:r>
            <a:r>
              <a:rPr sz="2000" b="1" spc="-3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99"/>
                </a:solidFill>
                <a:latin typeface="Times New Roman"/>
                <a:cs typeface="Times New Roman"/>
              </a:rPr>
              <a:t>Technology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Major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(18B19CI791)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|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2025-</a:t>
            </a:r>
            <a:r>
              <a:rPr sz="2400" b="1" spc="-25" dirty="0">
                <a:latin typeface="Times New Roman"/>
                <a:cs typeface="Times New Roman"/>
              </a:rPr>
              <a:t>26</a:t>
            </a:r>
            <a:endParaRPr sz="24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1455"/>
              </a:spcBef>
            </a:pPr>
            <a:r>
              <a:rPr sz="2000" b="1" dirty="0">
                <a:latin typeface="Times New Roman"/>
                <a:cs typeface="Times New Roman"/>
              </a:rPr>
              <a:t>Mid-Term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Evaluation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|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Sept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29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Oct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03,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2025.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825" y="3392237"/>
            <a:ext cx="14846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Group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No.: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63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800"/>
              </a:lnSpc>
            </a:pPr>
            <a:r>
              <a:rPr sz="1500" b="1" dirty="0">
                <a:latin typeface="Times New Roman"/>
                <a:cs typeface="Times New Roman"/>
              </a:rPr>
              <a:t>Team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Member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(s)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374" y="3928177"/>
            <a:ext cx="2275840" cy="112268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19"/>
              </a:spcBef>
              <a:buFont typeface="Arial MT"/>
              <a:buChar char="●"/>
              <a:tabLst>
                <a:tab pos="332740" algn="l"/>
              </a:tabLst>
            </a:pPr>
            <a:r>
              <a:rPr sz="1200" dirty="0">
                <a:latin typeface="Times New Roman"/>
                <a:cs typeface="Times New Roman"/>
              </a:rPr>
              <a:t>Priyansh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Lunawat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(221030169)</a:t>
            </a:r>
            <a:endParaRPr sz="1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Font typeface="Arial MT"/>
              <a:buChar char="●"/>
              <a:tabLst>
                <a:tab pos="332740" algn="l"/>
              </a:tabLst>
            </a:pPr>
            <a:r>
              <a:rPr sz="1200" dirty="0">
                <a:latin typeface="Times New Roman"/>
                <a:cs typeface="Times New Roman"/>
              </a:rPr>
              <a:t>Naman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Mittal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(221030259)</a:t>
            </a:r>
            <a:endParaRPr sz="1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Font typeface="Arial MT"/>
              <a:buChar char="●"/>
              <a:tabLst>
                <a:tab pos="332740" algn="l"/>
              </a:tabLst>
            </a:pPr>
            <a:r>
              <a:rPr sz="1200" dirty="0">
                <a:latin typeface="Times New Roman"/>
                <a:cs typeface="Times New Roman"/>
              </a:rPr>
              <a:t>Udit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Sharma(221030199)</a:t>
            </a:r>
            <a:endParaRPr sz="1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Font typeface="Arial MT"/>
              <a:buChar char="●"/>
              <a:tabLst>
                <a:tab pos="332740" algn="l"/>
              </a:tabLst>
            </a:pPr>
            <a:r>
              <a:rPr sz="1200" dirty="0">
                <a:latin typeface="Times New Roman"/>
                <a:cs typeface="Times New Roman"/>
              </a:rPr>
              <a:t>Ashish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Agarwal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(221030420)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4463" y="3708636"/>
            <a:ext cx="2513965" cy="5740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00" b="1" dirty="0">
                <a:latin typeface="Times New Roman"/>
                <a:cs typeface="Times New Roman"/>
              </a:rPr>
              <a:t>Supervisor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Name: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Mr.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Aayush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Sharma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latin typeface="Times New Roman"/>
                <a:cs typeface="Times New Roman"/>
              </a:rPr>
              <a:t>Designation: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Professor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52492" y="0"/>
            <a:ext cx="2218690" cy="548005"/>
            <a:chOff x="6852492" y="0"/>
            <a:chExt cx="2218690" cy="5480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2492" y="0"/>
              <a:ext cx="1178804" cy="5479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4900" y="120318"/>
              <a:ext cx="1015706" cy="25911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83" y="70007"/>
            <a:ext cx="688431" cy="50925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12648" y="170482"/>
            <a:ext cx="6917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099"/>
                </a:solidFill>
              </a:rPr>
              <a:t>Jaypee</a:t>
            </a:r>
            <a:r>
              <a:rPr sz="2800" spc="-40" dirty="0">
                <a:solidFill>
                  <a:srgbClr val="000099"/>
                </a:solidFill>
              </a:rPr>
              <a:t> </a:t>
            </a:r>
            <a:r>
              <a:rPr sz="2800" dirty="0">
                <a:solidFill>
                  <a:srgbClr val="000099"/>
                </a:solidFill>
              </a:rPr>
              <a:t>University</a:t>
            </a:r>
            <a:r>
              <a:rPr sz="2800" spc="-35" dirty="0">
                <a:solidFill>
                  <a:srgbClr val="000099"/>
                </a:solidFill>
              </a:rPr>
              <a:t> </a:t>
            </a:r>
            <a:r>
              <a:rPr sz="2800" dirty="0">
                <a:solidFill>
                  <a:srgbClr val="000099"/>
                </a:solidFill>
              </a:rPr>
              <a:t>of</a:t>
            </a:r>
            <a:r>
              <a:rPr sz="2800" spc="-35" dirty="0">
                <a:solidFill>
                  <a:srgbClr val="000099"/>
                </a:solidFill>
              </a:rPr>
              <a:t> </a:t>
            </a:r>
            <a:r>
              <a:rPr sz="2800" spc="-10" dirty="0">
                <a:solidFill>
                  <a:srgbClr val="000099"/>
                </a:solidFill>
              </a:rPr>
              <a:t>Information</a:t>
            </a:r>
            <a:r>
              <a:rPr sz="2800" spc="-35" dirty="0">
                <a:solidFill>
                  <a:srgbClr val="000099"/>
                </a:solidFill>
              </a:rPr>
              <a:t> </a:t>
            </a:r>
            <a:r>
              <a:rPr sz="2800" spc="-10" dirty="0">
                <a:solidFill>
                  <a:srgbClr val="000099"/>
                </a:solidFill>
              </a:rPr>
              <a:t>Technology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2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305" y="527226"/>
            <a:ext cx="2834005" cy="402462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840"/>
              </a:spcBef>
              <a:buChar char="•"/>
              <a:tabLst>
                <a:tab pos="225425" algn="l"/>
              </a:tabLst>
            </a:pPr>
            <a:r>
              <a:rPr sz="1400" spc="-10" dirty="0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5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Problem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Statement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0"/>
              </a:spcBef>
              <a:buChar char="•"/>
              <a:tabLst>
                <a:tab pos="225425" algn="l"/>
              </a:tabLst>
            </a:pPr>
            <a:r>
              <a:rPr sz="1400" spc="-10" dirty="0">
                <a:latin typeface="Times New Roman"/>
                <a:cs typeface="Times New Roman"/>
              </a:rPr>
              <a:t>Objectives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0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Literature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Review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5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Design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0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Tools,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Technologies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Languages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5"/>
              </a:spcBef>
              <a:buChar char="•"/>
              <a:tabLst>
                <a:tab pos="225425" algn="l"/>
              </a:tabLst>
            </a:pPr>
            <a:r>
              <a:rPr sz="1400" spc="-10" dirty="0">
                <a:latin typeface="Times New Roman"/>
                <a:cs typeface="Times New Roman"/>
              </a:rPr>
              <a:t>Dataset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0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Key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Learnings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0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Plan till</a:t>
            </a:r>
            <a:r>
              <a:rPr sz="1400" spc="-10" dirty="0">
                <a:latin typeface="Times New Roman"/>
                <a:cs typeface="Times New Roman"/>
              </a:rPr>
              <a:t> End-</a:t>
            </a:r>
            <a:r>
              <a:rPr sz="1400" dirty="0">
                <a:latin typeface="Times New Roman"/>
                <a:cs typeface="Times New Roman"/>
              </a:rPr>
              <a:t>Term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Evaluation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5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Plan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0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Contribution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Attendance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5"/>
              </a:spcBef>
              <a:buChar char="•"/>
              <a:tabLst>
                <a:tab pos="225425" algn="l"/>
              </a:tabLst>
            </a:pPr>
            <a:r>
              <a:rPr sz="1400" dirty="0">
                <a:latin typeface="Times New Roman"/>
                <a:cs typeface="Times New Roman"/>
              </a:rPr>
              <a:t>Supervisor </a:t>
            </a:r>
            <a:r>
              <a:rPr sz="1400" spc="-10" dirty="0">
                <a:latin typeface="Times New Roman"/>
                <a:cs typeface="Times New Roman"/>
              </a:rPr>
              <a:t>Interactions</a:t>
            </a:r>
            <a:endParaRPr sz="1400">
              <a:latin typeface="Times New Roman"/>
              <a:cs typeface="Times New Roman"/>
            </a:endParaRPr>
          </a:p>
          <a:p>
            <a:pPr marL="225425" indent="-212725">
              <a:lnSpc>
                <a:spcPct val="100000"/>
              </a:lnSpc>
              <a:spcBef>
                <a:spcPts val="740"/>
              </a:spcBef>
              <a:buChar char="•"/>
              <a:tabLst>
                <a:tab pos="225425" algn="l"/>
              </a:tabLst>
            </a:pPr>
            <a:r>
              <a:rPr sz="1400" spc="-10" dirty="0">
                <a:latin typeface="Times New Roman"/>
                <a:cs typeface="Times New Roman"/>
              </a:rPr>
              <a:t>References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3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411" y="621460"/>
            <a:ext cx="8688705" cy="279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sz="1400" dirty="0">
                <a:latin typeface="Arial MT"/>
                <a:cs typeface="Arial MT"/>
              </a:rPr>
              <a:t>Today’s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job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market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highly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competitive,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requiring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just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polished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resumes.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buChar char="●"/>
              <a:tabLst>
                <a:tab pos="347980" algn="l"/>
              </a:tabLst>
            </a:pPr>
            <a:r>
              <a:rPr sz="1400" dirty="0">
                <a:latin typeface="Arial MT"/>
                <a:cs typeface="Arial MT"/>
              </a:rPr>
              <a:t>Employers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expect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strong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communication,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problem-</a:t>
            </a:r>
            <a:r>
              <a:rPr sz="1400" dirty="0">
                <a:latin typeface="Arial MT"/>
                <a:cs typeface="Arial MT"/>
              </a:rPr>
              <a:t>solving,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technical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expertise.</a:t>
            </a:r>
            <a:endParaRPr sz="1400">
              <a:latin typeface="Arial MT"/>
              <a:cs typeface="Arial MT"/>
            </a:endParaRPr>
          </a:p>
          <a:p>
            <a:pPr marL="348615" marR="5080" indent="-336550">
              <a:lnSpc>
                <a:spcPct val="200000"/>
              </a:lnSpc>
              <a:buChar char="●"/>
              <a:tabLst>
                <a:tab pos="348615" algn="l"/>
              </a:tabLst>
            </a:pPr>
            <a:r>
              <a:rPr sz="1400" dirty="0">
                <a:latin typeface="Arial MT"/>
                <a:cs typeface="Arial MT"/>
              </a:rPr>
              <a:t>Traditional</a:t>
            </a:r>
            <a:r>
              <a:rPr sz="1400" spc="4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methods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(resume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templates,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generic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guides,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offline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tests)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time-</a:t>
            </a:r>
            <a:r>
              <a:rPr sz="1400" dirty="0">
                <a:latin typeface="Arial MT"/>
                <a:cs typeface="Arial MT"/>
              </a:rPr>
              <a:t>consuming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409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lack </a:t>
            </a:r>
            <a:r>
              <a:rPr sz="1400" spc="-10" dirty="0">
                <a:latin typeface="Arial MT"/>
                <a:cs typeface="Arial MT"/>
              </a:rPr>
              <a:t>personalization.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buChar char="●"/>
              <a:tabLst>
                <a:tab pos="347980" algn="l"/>
              </a:tabLst>
            </a:pPr>
            <a:r>
              <a:rPr sz="1400" dirty="0">
                <a:latin typeface="Arial MT"/>
                <a:cs typeface="Arial MT"/>
              </a:rPr>
              <a:t>AI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NLP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enable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customized,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intelligent,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adaptive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career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preparation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solutions.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buChar char="●"/>
              <a:tabLst>
                <a:tab pos="347980" algn="l"/>
              </a:tabLst>
            </a:pP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project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integrates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career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guidance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with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skill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evaluation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using</a:t>
            </a:r>
            <a:r>
              <a:rPr sz="1400" spc="-25" dirty="0">
                <a:latin typeface="Arial MT"/>
                <a:cs typeface="Arial MT"/>
              </a:rPr>
              <a:t> AI.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buChar char="●"/>
              <a:tabLst>
                <a:tab pos="347980" algn="l"/>
              </a:tabLst>
            </a:pPr>
            <a:r>
              <a:rPr sz="1400" dirty="0">
                <a:latin typeface="Arial MT"/>
                <a:cs typeface="Arial MT"/>
              </a:rPr>
              <a:t>Ensures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users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b="1" spc="-10" dirty="0">
                <a:latin typeface="Arial"/>
                <a:cs typeface="Arial"/>
              </a:rPr>
              <a:t>interview-</a:t>
            </a:r>
            <a:r>
              <a:rPr sz="1400" b="1" dirty="0">
                <a:latin typeface="Arial"/>
                <a:cs typeface="Arial"/>
              </a:rPr>
              <a:t>ready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technically</a:t>
            </a:r>
            <a:r>
              <a:rPr sz="1400" b="1" spc="-10" dirty="0">
                <a:latin typeface="Arial"/>
                <a:cs typeface="Arial"/>
              </a:rPr>
              <a:t> competent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4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411" y="621462"/>
            <a:ext cx="8690610" cy="301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8615" algn="l"/>
                <a:tab pos="8177530" algn="l"/>
              </a:tabLst>
            </a:pPr>
            <a:r>
              <a:rPr sz="1400" dirty="0">
                <a:latin typeface="Times New Roman"/>
                <a:cs typeface="Times New Roman"/>
              </a:rPr>
              <a:t>Traditional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career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platforms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static</a:t>
            </a:r>
            <a:r>
              <a:rPr sz="1400" b="1" spc="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resumes</a:t>
            </a:r>
            <a:r>
              <a:rPr sz="1400" b="1" spc="9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templates</a:t>
            </a:r>
            <a:r>
              <a:rPr sz="1400" b="1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optimized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Applicant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Tracking Systems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(ATS).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348615" marR="5080" indent="-336550" algn="r">
              <a:lnSpc>
                <a:spcPct val="100000"/>
              </a:lnSpc>
              <a:buFont typeface="Arial MT"/>
              <a:buChar char="●"/>
              <a:tabLst>
                <a:tab pos="348615" algn="l"/>
                <a:tab pos="7783830" algn="l"/>
              </a:tabLst>
            </a:pPr>
            <a:r>
              <a:rPr sz="1400" dirty="0">
                <a:latin typeface="Times New Roman"/>
                <a:cs typeface="Times New Roman"/>
              </a:rPr>
              <a:t>Existing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treat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resume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building,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interview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preparation,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coding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assessments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as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separate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workflows</a:t>
            </a:r>
            <a:r>
              <a:rPr sz="1400" spc="-10" dirty="0">
                <a:latin typeface="Times New Roman"/>
                <a:cs typeface="Times New Roman"/>
              </a:rPr>
              <a:t>, causing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inefficiency.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335280" marR="5080" indent="-335280" algn="r">
              <a:lnSpc>
                <a:spcPct val="100000"/>
              </a:lnSpc>
              <a:buFont typeface="Arial MT"/>
              <a:buChar char="●"/>
              <a:tabLst>
                <a:tab pos="335280" algn="l"/>
                <a:tab pos="839469" algn="l"/>
                <a:tab pos="1135380" algn="l"/>
                <a:tab pos="2241550" algn="l"/>
                <a:tab pos="3070860" algn="l"/>
                <a:tab pos="3545204" algn="l"/>
                <a:tab pos="3841115" algn="l"/>
                <a:tab pos="4413250" algn="l"/>
                <a:tab pos="4788535" algn="l"/>
                <a:tab pos="5212715" algn="l"/>
                <a:tab pos="6082030" algn="l"/>
                <a:tab pos="6635115" algn="l"/>
                <a:tab pos="6960870" algn="l"/>
                <a:tab pos="7188200" algn="l"/>
                <a:tab pos="8145780" algn="l"/>
              </a:tabLst>
            </a:pPr>
            <a:r>
              <a:rPr sz="1400" spc="-20" dirty="0">
                <a:latin typeface="Times New Roman"/>
                <a:cs typeface="Times New Roman"/>
              </a:rPr>
              <a:t>Lack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of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personalized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guidance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such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as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future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job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role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prediction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based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on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candidate’s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profile.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335280" marR="5715" indent="-335280" algn="r">
              <a:lnSpc>
                <a:spcPct val="100000"/>
              </a:lnSpc>
              <a:buFont typeface="Arial MT"/>
              <a:buChar char="●"/>
              <a:tabLst>
                <a:tab pos="335280" algn="l"/>
              </a:tabLst>
            </a:pPr>
            <a:r>
              <a:rPr sz="1400" dirty="0">
                <a:latin typeface="Times New Roman"/>
                <a:cs typeface="Times New Roman"/>
              </a:rPr>
              <a:t>Coding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platforms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often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fail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provide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secure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environments,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plagiarism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checks,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detailed</a:t>
            </a:r>
            <a:r>
              <a:rPr sz="1400" b="1" spc="1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analytics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335280" marR="5715" indent="-335280" algn="r">
              <a:lnSpc>
                <a:spcPct val="100000"/>
              </a:lnSpc>
              <a:buFont typeface="Arial MT"/>
              <a:buChar char="●"/>
              <a:tabLst>
                <a:tab pos="335280" algn="l"/>
                <a:tab pos="1146810" algn="l"/>
                <a:tab pos="2027555" algn="l"/>
                <a:tab pos="2393950" algn="l"/>
                <a:tab pos="3225165" algn="l"/>
                <a:tab pos="4184650" algn="l"/>
                <a:tab pos="4600575" algn="l"/>
                <a:tab pos="5194935" algn="l"/>
                <a:tab pos="5532120" algn="l"/>
                <a:tab pos="6096635" algn="l"/>
                <a:tab pos="6503034" algn="l"/>
                <a:tab pos="7482205" algn="l"/>
                <a:tab pos="8115300" algn="l"/>
              </a:tabLst>
            </a:pPr>
            <a:r>
              <a:rPr sz="1400" spc="-10" dirty="0">
                <a:latin typeface="Times New Roman"/>
                <a:cs typeface="Times New Roman"/>
              </a:rPr>
              <a:t>Minimal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feedback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25" dirty="0">
                <a:latin typeface="Times New Roman"/>
                <a:cs typeface="Times New Roman"/>
              </a:rPr>
              <a:t>or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learning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roadmaps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are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given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to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users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for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continuous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career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growth.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348615" marR="21590" indent="-336550">
              <a:lnSpc>
                <a:spcPct val="100000"/>
              </a:lnSpc>
              <a:buFont typeface="Arial MT"/>
              <a:buChar char="●"/>
              <a:tabLst>
                <a:tab pos="348615" algn="l"/>
              </a:tabLst>
            </a:pPr>
            <a:r>
              <a:rPr sz="1400" dirty="0">
                <a:latin typeface="Times New Roman"/>
                <a:cs typeface="Times New Roman"/>
              </a:rPr>
              <a:t>Job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seekers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face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aligning</a:t>
            </a:r>
            <a:r>
              <a:rPr sz="1400" b="1" spc="20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their</a:t>
            </a:r>
            <a:r>
              <a:rPr sz="1400" b="1" spc="2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skills</a:t>
            </a:r>
            <a:r>
              <a:rPr sz="1400" b="1" spc="20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with</a:t>
            </a:r>
            <a:r>
              <a:rPr sz="1400" b="1" spc="2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industry</a:t>
            </a:r>
            <a:r>
              <a:rPr sz="1400" b="1" spc="204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requirements</a:t>
            </a:r>
            <a:r>
              <a:rPr sz="1400" b="1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due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absence</a:t>
            </a:r>
            <a:r>
              <a:rPr sz="1400" spc="2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integrated, </a:t>
            </a:r>
            <a:r>
              <a:rPr sz="1400" dirty="0">
                <a:latin typeface="Times New Roman"/>
                <a:cs typeface="Times New Roman"/>
              </a:rPr>
              <a:t>AI-powered </a:t>
            </a:r>
            <a:r>
              <a:rPr sz="1400" spc="-10" dirty="0">
                <a:latin typeface="Times New Roman"/>
                <a:cs typeface="Times New Roman"/>
              </a:rPr>
              <a:t>solutions.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5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150" y="514782"/>
            <a:ext cx="6246495" cy="32258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developed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objectives:</a:t>
            </a:r>
            <a:endParaRPr sz="1400">
              <a:latin typeface="Times New Roman"/>
              <a:cs typeface="Times New Roman"/>
            </a:endParaRPr>
          </a:p>
          <a:p>
            <a:pPr marL="469265" indent="-335915">
              <a:lnSpc>
                <a:spcPct val="100000"/>
              </a:lnSpc>
              <a:spcBef>
                <a:spcPts val="840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AI-optimized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resumes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cover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letters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tailored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specific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job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roles.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469265" indent="-33591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predict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suitable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future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job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roles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resume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469265" indent="-33591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simulate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interview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AI-driven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Q&amp;A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sessions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feedback.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469265" indent="-33591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conduct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personalized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coding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assessments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aligned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skills.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●"/>
            </a:pPr>
            <a:endParaRPr sz="1400">
              <a:latin typeface="Times New Roman"/>
              <a:cs typeface="Times New Roman"/>
            </a:endParaRPr>
          </a:p>
          <a:p>
            <a:pPr marL="469265" indent="-33591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analytics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roadmaps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career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growth.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50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ct val="100000"/>
              </a:lnSpc>
            </a:pPr>
            <a:fld id="{81D60167-4931-47E6-BA6A-407CBD079E47}" type="slidenum">
              <a:rPr spc="-25" dirty="0"/>
              <a:t>6</a:t>
            </a:fld>
            <a:r>
              <a:rPr spc="-25" dirty="0"/>
              <a:t>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0855" y="537061"/>
          <a:ext cx="8923017" cy="418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1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8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71500" marR="563880" indent="381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 [Citation]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4038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Journal/ Conference (Year)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368935" marR="3625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Tools/ Techniques/ Dataset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708660" marR="509270" indent="-1924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Findings/ Results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20700" marR="512445" indent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Limitations/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619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Nguyen,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T.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T.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H.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et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al.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SimInterview:</a:t>
                      </a:r>
                      <a:r>
                        <a:rPr sz="900" i="1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Transforming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Business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Education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through LLM-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sz="90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Simulated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Multilingual</a:t>
                      </a:r>
                      <a:r>
                        <a:rPr sz="9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Interview</a:t>
                      </a:r>
                      <a:r>
                        <a:rPr sz="900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Training System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arXiv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155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LLMs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(OpenAI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o3,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Llama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Gemma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3),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Whisper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STT, GPT-SoVITS,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Ditto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151130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avatar,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ChromaDB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vector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DB,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retrieval-augmented generation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428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aligns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interview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content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supports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multilingual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interviews,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satisfaction,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helps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prepare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real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interviews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009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Focused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improving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learner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confidence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lacks comprehensive</a:t>
                      </a:r>
                      <a:r>
                        <a:rPr sz="9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employability analytics.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435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Koshti,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H.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et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al.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AI-Powered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Interview</a:t>
                      </a:r>
                      <a:r>
                        <a:rPr sz="900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Preparation</a:t>
                      </a:r>
                      <a:r>
                        <a:rPr sz="900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System: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Integrating</a:t>
                      </a:r>
                      <a:r>
                        <a:rPr sz="9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Resume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Analysis,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HR</a:t>
                      </a:r>
                      <a:r>
                        <a:rPr sz="9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Simulation,</a:t>
                      </a:r>
                      <a:r>
                        <a:rPr sz="9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Technical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Skill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Assessment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181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Engineering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Reports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1493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emotion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detection,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analysis,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Speech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Recognition,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integration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ATS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simulator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31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candidate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preparation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efficiency,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objective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evaluation,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feedback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insights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traditional methods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035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provides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candidate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alignment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lacks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future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career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trajectory</a:t>
                      </a:r>
                      <a:r>
                        <a:rPr sz="9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guidance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3.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009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Gayathri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Devi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M.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et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al.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AI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Friendly</a:t>
                      </a:r>
                      <a:r>
                        <a:rPr sz="90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Resume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IJSREM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(2024)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006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keyword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extraction,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semantic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matching,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formatting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ATS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compatibility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56870" algn="just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Significant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increase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shortlisting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rates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to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traditional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formats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635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Focuses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resume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optimization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ATS,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ignoring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stages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recruitment process.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4.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270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Kumari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Kumar</a:t>
                      </a:r>
                      <a:r>
                        <a:rPr sz="90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AI-Based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Mock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Interview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Platform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(“AI-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Mock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Interview Platform”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IRJMETS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71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9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parsing,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emotion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detection, dynamic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question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generation,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scoring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across emotional/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verbal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cognitive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domains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724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Personalized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interview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practice, 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feedback,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detailed performance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breakdowns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924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efficiency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depends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on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resume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quality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;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poor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data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reduces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accuracy.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63059" y="4993054"/>
            <a:ext cx="6661784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  <a:tabLst>
                <a:tab pos="6575425" algn="l"/>
              </a:tabLst>
            </a:pP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Major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Project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(18B19CI791)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Mid-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Term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Evaluation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Department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CSE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IT</a:t>
            </a:r>
            <a:r>
              <a:rPr sz="9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AY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2025-</a:t>
            </a:r>
            <a:r>
              <a:rPr sz="900" spc="-25" dirty="0">
                <a:solidFill>
                  <a:srgbClr val="002060"/>
                </a:solidFill>
                <a:latin typeface="Times New Roman"/>
                <a:cs typeface="Times New Roman"/>
              </a:rPr>
              <a:t>26.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	</a:t>
            </a:r>
            <a:r>
              <a:rPr sz="1350" spc="-37" baseline="-18518" dirty="0">
                <a:solidFill>
                  <a:srgbClr val="005493"/>
                </a:solidFill>
                <a:latin typeface="Times New Roman"/>
                <a:cs typeface="Times New Roman"/>
              </a:rPr>
              <a:t>7.</a:t>
            </a:r>
            <a:endParaRPr sz="1350" baseline="-18518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65" y="6985"/>
            <a:ext cx="8361045" cy="552450"/>
            <a:chOff x="24765" y="6985"/>
            <a:chExt cx="8361045" cy="552450"/>
          </a:xfrm>
        </p:grpSpPr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752" y="520547"/>
                  </a:moveTo>
                  <a:lnTo>
                    <a:pt x="0" y="520547"/>
                  </a:lnTo>
                  <a:lnTo>
                    <a:pt x="0" y="0"/>
                  </a:lnTo>
                  <a:lnTo>
                    <a:pt x="8328752" y="0"/>
                  </a:lnTo>
                  <a:lnTo>
                    <a:pt x="8328752" y="520547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752" y="0"/>
                  </a:lnTo>
                  <a:lnTo>
                    <a:pt x="8328752" y="520547"/>
                  </a:lnTo>
                  <a:lnTo>
                    <a:pt x="0" y="520547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40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(cont…)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3817" y="654661"/>
          <a:ext cx="8923017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1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8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71500" marR="563880" indent="381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 [Citation]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4038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Journal/ Conference (Year)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368935" marR="3625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Tools/ Techniques/ Dataset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708660" marR="509270" indent="-1924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Findings/ Results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20700" marR="512445" indent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Limitations/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5.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24460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Soumya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S.,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Mr.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Musheer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Ahmed.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Career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Path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Recommender.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Zhuzao/Foundry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797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ML,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Learning, Reinforcement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Learning,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NLP,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Hybrid Recommendation,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LLM.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689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Personalized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career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suggestions;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letter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automation; quizzes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&amp;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feedback;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career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match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confidence.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212090" marR="147320" indent="-63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Cold-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users;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quality;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needs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integration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6.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965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Revolutionizing</a:t>
                      </a:r>
                      <a:r>
                        <a:rPr sz="9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Nearby Accommodation: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in-depth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React.js,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Node.js,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MongoDB,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Express.js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Website Development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343535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Chirag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Yadav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Rahul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Dhakad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Afroj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Mihir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Panchal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Er.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Bhupinder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Kaur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Innovative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Computing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Communication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(ICICC 2024)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46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React.js,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Node.js,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Express.js,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MongoDB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(no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external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dataset, application-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testing)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8128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MERN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stack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integration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website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scalability,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responsiveness,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experience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nearby accommodation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2090" marR="198755" indent="-635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small-to-medium scale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testing,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lacking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performance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large datasets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traffic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loads.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7.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524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Constructing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Buddy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MERN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(MongoDB,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Express.js,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React,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Node.js)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Stack Technologies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26860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Chamalla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Sravani,Pudi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Kumar Sanapala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Priya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July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65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MongoDB,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Express.js,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React.js,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Node.js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(custom student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interaction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dataset)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765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MERN-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buddy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facilitated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collaborative learning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engagement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among students.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212090" marR="149225" indent="-63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lacked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advanced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personalization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base.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8.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333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Mern(Mongodb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Express-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Js,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React-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Js,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Node-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Js)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Stack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11811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Web-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Themefied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Education Platform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For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Placement Preparation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ts val="63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Varsha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Sahni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,Atharva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Chopde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100330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Educational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Administration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Theory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Practice journal (2024)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863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MongoDB,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Express.js,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React.js,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Node.js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31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MERN-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education platform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provided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interactive,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themefied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placement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preparation efficiency.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2090" marR="152400" indent="-63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adaptability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diverse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curricula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larger student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groups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extensively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validated.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63059" y="4993054"/>
            <a:ext cx="6661784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  <a:tabLst>
                <a:tab pos="6575425" algn="l"/>
              </a:tabLst>
            </a:pP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Major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Project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(18B19CI791)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Mid-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Term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Evaluation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Department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CSE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IT</a:t>
            </a:r>
            <a:r>
              <a:rPr sz="9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AY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2025-</a:t>
            </a:r>
            <a:r>
              <a:rPr sz="900" spc="-25" dirty="0">
                <a:solidFill>
                  <a:srgbClr val="002060"/>
                </a:solidFill>
                <a:latin typeface="Times New Roman"/>
                <a:cs typeface="Times New Roman"/>
              </a:rPr>
              <a:t>26.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	</a:t>
            </a:r>
            <a:r>
              <a:rPr sz="1350" spc="-37" baseline="-18518" dirty="0">
                <a:solidFill>
                  <a:srgbClr val="005493"/>
                </a:solidFill>
                <a:latin typeface="Times New Roman"/>
                <a:cs typeface="Times New Roman"/>
              </a:rPr>
              <a:t>8.</a:t>
            </a:r>
            <a:endParaRPr sz="1350" baseline="-18518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65" y="6985"/>
            <a:ext cx="8361045" cy="552450"/>
            <a:chOff x="24765" y="6985"/>
            <a:chExt cx="8361045" cy="552450"/>
          </a:xfrm>
        </p:grpSpPr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752" y="520547"/>
                  </a:moveTo>
                  <a:lnTo>
                    <a:pt x="0" y="520547"/>
                  </a:lnTo>
                  <a:lnTo>
                    <a:pt x="0" y="0"/>
                  </a:lnTo>
                  <a:lnTo>
                    <a:pt x="8328752" y="0"/>
                  </a:lnTo>
                  <a:lnTo>
                    <a:pt x="8328752" y="520547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752" y="0"/>
                  </a:lnTo>
                  <a:lnTo>
                    <a:pt x="8328752" y="520547"/>
                  </a:lnTo>
                  <a:lnTo>
                    <a:pt x="0" y="520547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40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(cont…)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3817" y="654661"/>
          <a:ext cx="8923017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1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86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71500" marR="563880" indent="381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 [Citation]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4038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Journal/ Conference (Year)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368935" marR="3625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Tools/ Techniques/ Dataset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708660" marR="509270" indent="-1924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Findings/ Results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20700" marR="512445" indent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Limitations/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9.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562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Recruitment: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Transforming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Talent</a:t>
                      </a:r>
                      <a:r>
                        <a:rPr sz="9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Acquisition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Digital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Age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Devashish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Pandey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February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90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AI/ML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models,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NLP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libraries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(e.g.,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spaCy,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TensorFlow),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recruitment datasets/resume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databases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930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streamlined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candidate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shortlisting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hiring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significantly.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212090" marR="312420" indent="-63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Potential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algorithmic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bias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dependence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on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quality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fairness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generalizability.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10.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409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Optimization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Learning Techniques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22415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Chinwe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Gilean Onukwugha,Christopher Ofoegbu,Obinna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Banner Aliche,Chidi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Ukamaka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Betrand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just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October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300990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Intelligent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Information Systems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758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Learning algorithms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(e.g.,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Logistic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Regression,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SVM),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libraries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(NLTK,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388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scikit-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learn),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 datasets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670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successfully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optimized resumes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highlighting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skills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keywords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aligned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descriptions.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2090" marR="178435" indent="-635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generalization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across industries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bias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varying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requirements.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11.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755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Rahman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et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al–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Career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0" dirty="0">
                          <a:latin typeface="Arial"/>
                          <a:cs typeface="Arial"/>
                        </a:rPr>
                        <a:t>Path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Recommendation</a:t>
                      </a:r>
                      <a:r>
                        <a:rPr sz="900" i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System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IERJ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(2022)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0543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code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evaluation,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suggestion modules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428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submitted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provides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improvement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suggestions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148590" marR="4851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Does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include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resume optimization,</a:t>
                      </a:r>
                      <a:r>
                        <a:rPr sz="9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interview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preparation,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coding assessments.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12.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40029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Priskilla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Angel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Rani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Personalized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Career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Roadmap Generation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IJNRD,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26060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Python,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Streamlit,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SQL,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NLTK,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SpaCy,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324485">
                        <a:lnSpc>
                          <a:spcPct val="11499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scikit-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learn,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APIs, resumes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739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↑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45%,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match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85%,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engagement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56235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sample,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short-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term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study, external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factors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not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considered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63059" y="4993054"/>
            <a:ext cx="6661784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  <a:tabLst>
                <a:tab pos="6575425" algn="l"/>
              </a:tabLst>
            </a:pP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Major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Project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(18B19CI791)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Mid-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Term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Evaluation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Department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CSE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IT</a:t>
            </a:r>
            <a:r>
              <a:rPr sz="9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AY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2025-</a:t>
            </a:r>
            <a:r>
              <a:rPr sz="900" spc="-25" dirty="0">
                <a:solidFill>
                  <a:srgbClr val="002060"/>
                </a:solidFill>
                <a:latin typeface="Times New Roman"/>
                <a:cs typeface="Times New Roman"/>
              </a:rPr>
              <a:t>26.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	</a:t>
            </a:r>
            <a:r>
              <a:rPr sz="1350" spc="-37" baseline="-18518" dirty="0">
                <a:solidFill>
                  <a:srgbClr val="005493"/>
                </a:solidFill>
                <a:latin typeface="Times New Roman"/>
                <a:cs typeface="Times New Roman"/>
              </a:rPr>
              <a:t>9.</a:t>
            </a:r>
            <a:endParaRPr sz="1350" baseline="-18518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65" y="6985"/>
            <a:ext cx="8361045" cy="552450"/>
            <a:chOff x="24765" y="6985"/>
            <a:chExt cx="8361045" cy="552450"/>
          </a:xfrm>
        </p:grpSpPr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752" y="520547"/>
                  </a:moveTo>
                  <a:lnTo>
                    <a:pt x="0" y="520547"/>
                  </a:lnTo>
                  <a:lnTo>
                    <a:pt x="0" y="0"/>
                  </a:lnTo>
                  <a:lnTo>
                    <a:pt x="8328752" y="0"/>
                  </a:lnTo>
                  <a:lnTo>
                    <a:pt x="8328752" y="520547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752" y="0"/>
                  </a:lnTo>
                  <a:lnTo>
                    <a:pt x="8328752" y="520547"/>
                  </a:lnTo>
                  <a:lnTo>
                    <a:pt x="0" y="520547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40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(cont…)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3817" y="537058"/>
          <a:ext cx="8925559" cy="4598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1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601980" indent="381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 [Citation]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410845" marR="4038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Journal/ Conference (Year)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368935" marR="36258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Tools/ Techniques/ Dataset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708660" marR="509270" indent="-1924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Findings/ Results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20700" marR="512445" indent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Limitations/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13.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97180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Venkateswar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Reddy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Professional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Generator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73380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Proposal, ResearchGate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(March 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3345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Full-stack,ML,Scikit-learn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keyword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analysis;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27329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35%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scores,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87%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ATS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pass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rate,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88%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satisfaction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feedback engagement.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26060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dataset,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storage,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lacks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broader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career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tools.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14.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51460" algn="just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Dr.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Mahesh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B.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Gunjal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Review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Paper 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Parser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IJIRT,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Vol.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11,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(Jan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just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NLP, NER,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Regex,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100330" algn="just">
                        <a:lnSpc>
                          <a:spcPct val="11499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Layout-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aware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parsing,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(Tf-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Idf,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cosine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similarity),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CNN,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Generative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AI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97485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parsers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improve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efficiency,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090" marR="133350">
                        <a:lnSpc>
                          <a:spcPct val="11499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job-matching;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layout-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aware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hybrid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enhance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extraction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varied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formats.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23825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Ethical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bias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issues,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reliance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limited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datasets,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expert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validation,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challenges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recruitment.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6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15.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72770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R.V.K.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Bevara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Resume2Vec: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Advancing Recruitment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92710">
                        <a:lnSpc>
                          <a:spcPct val="11499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Transformer-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 Embeddings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Resume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Ranking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10185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Electronics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(MDPI),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Vol.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14,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(2025)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752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embeddings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(BERT,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RoBERTa,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11557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GPT-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Gemini,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LLaMA);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nDCG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RBO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metrics; multi-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68275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Resume2Vec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outperforms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ATS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ranking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fairness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alignment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judgments,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especially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technical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fields.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137160">
                        <a:lnSpc>
                          <a:spcPct val="114999"/>
                        </a:lnSpc>
                        <a:spcBef>
                          <a:spcPts val="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Relied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evaluators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instead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experts;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multilingual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16.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Kaitao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Chen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Improving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5725" marR="142240">
                        <a:lnSpc>
                          <a:spcPct val="100000"/>
                        </a:lnSpc>
                      </a:pPr>
                      <a:r>
                        <a:rPr sz="900" i="1" spc="-10" dirty="0">
                          <a:latin typeface="Arial"/>
                          <a:cs typeface="Arial"/>
                        </a:rPr>
                        <a:t>Front-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end</a:t>
                      </a:r>
                      <a:r>
                        <a:rPr sz="9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Performance</a:t>
                      </a:r>
                      <a:r>
                        <a:rPr sz="9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through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Modular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Rendering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and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Adaptive</a:t>
                      </a:r>
                      <a:r>
                        <a:rPr sz="9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Hydration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(MRAH)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arXiv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Preprint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(2025)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28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React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18,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Next.js,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modular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rendering,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adaptive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hydration,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SSR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streaming, code-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splitting,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product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detail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57505" algn="just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~82%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reduction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payload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LCP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TTI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(up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62%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faster)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090" marR="192405" algn="just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blocking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smoother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UX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2090" marR="254000" indent="-63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Added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refactoring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cost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12090" marR="442595" indent="-63500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Cross-module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handling challenges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scope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63059" y="4993054"/>
            <a:ext cx="6690359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  <a:tabLst>
                <a:tab pos="6546850" algn="l"/>
              </a:tabLst>
            </a:pP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Major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Project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(18B19CI791)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Mid-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Term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Evaluation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Department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CSE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IT</a:t>
            </a:r>
            <a:r>
              <a:rPr sz="9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AY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2025-</a:t>
            </a:r>
            <a:r>
              <a:rPr sz="900" spc="-25" dirty="0">
                <a:solidFill>
                  <a:srgbClr val="002060"/>
                </a:solidFill>
                <a:latin typeface="Times New Roman"/>
                <a:cs typeface="Times New Roman"/>
              </a:rPr>
              <a:t>26.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	</a:t>
            </a:r>
            <a:r>
              <a:rPr sz="1350" spc="-37" baseline="-18518" dirty="0">
                <a:solidFill>
                  <a:srgbClr val="005493"/>
                </a:solidFill>
                <a:latin typeface="Times New Roman"/>
                <a:cs typeface="Times New Roman"/>
              </a:rPr>
              <a:t>10.</a:t>
            </a:r>
            <a:endParaRPr sz="1350" baseline="-18518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65" y="6985"/>
            <a:ext cx="8361045" cy="552450"/>
            <a:chOff x="24765" y="6985"/>
            <a:chExt cx="8361045" cy="552450"/>
          </a:xfrm>
        </p:grpSpPr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752" y="520547"/>
                  </a:moveTo>
                  <a:lnTo>
                    <a:pt x="0" y="520547"/>
                  </a:lnTo>
                  <a:lnTo>
                    <a:pt x="0" y="0"/>
                  </a:lnTo>
                  <a:lnTo>
                    <a:pt x="8328752" y="0"/>
                  </a:lnTo>
                  <a:lnTo>
                    <a:pt x="8328752" y="520547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752" y="0"/>
                  </a:lnTo>
                  <a:lnTo>
                    <a:pt x="8328752" y="520547"/>
                  </a:lnTo>
                  <a:lnTo>
                    <a:pt x="0" y="520547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40" dirty="0"/>
              <a:t> </a:t>
            </a:r>
            <a:r>
              <a:rPr dirty="0"/>
              <a:t>Review</a:t>
            </a:r>
            <a:r>
              <a:rPr spc="-40" dirty="0"/>
              <a:t> </a:t>
            </a:r>
            <a:r>
              <a:rPr spc="-10" dirty="0"/>
              <a:t>(cont…)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3817" y="654661"/>
          <a:ext cx="8956040" cy="44996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2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086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574675" marR="567690" indent="381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 [Citation]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413384" marR="40640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Journal/ Conference (Year)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371475" marR="36512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Tools/ Techniques/ Dataset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777240" marR="577850" indent="-1924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Findings/ Results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marL="458470" marR="450850" indent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Limitations/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1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060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6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17.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174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Tarannum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Alimahmad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Bloch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 Ibrahim Inusa –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“GPT-3-Based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AI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Cover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Letter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Generator: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 Feasibility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Implementation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71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Lecture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Notes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Networks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5th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International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Recent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Trends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Machine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Learning,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IoT,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Cities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Applications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349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GPT-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(OpenAI)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model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generation.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266700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Prompt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cover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letter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tailoring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Feasibility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implementation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study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(case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studies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experiments).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549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Demonstrated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technical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feasibility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generating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letters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GPT-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Implementation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generated letters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usable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customizable.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149225" marR="1143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possibly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smaller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initial implementation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(not large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scale).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letters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depends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heavily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prompt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input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18.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701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Abishek</a:t>
                      </a:r>
                      <a:r>
                        <a:rPr sz="9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S,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Arokiaraj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Christian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St Hubert,</a:t>
                      </a:r>
                      <a:r>
                        <a:rPr sz="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Dhanvarshan</a:t>
                      </a:r>
                      <a:r>
                        <a:rPr sz="9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S,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Dinesh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Kumar</a:t>
                      </a:r>
                      <a:r>
                        <a:rPr sz="9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Automated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Code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Review</a:t>
                      </a:r>
                      <a:r>
                        <a:rPr sz="9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Feedback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9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Machine</a:t>
                      </a:r>
                      <a:r>
                        <a:rPr sz="9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Learning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0543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Novel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Development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(IJNRD),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206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AST,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Forest,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MLP,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SVR,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Streamlit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app,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code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536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accurate,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feedback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practices.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168910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Helps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iteratively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code,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useful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educational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settings.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2725" marR="268605" indent="-63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Dependent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on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quality,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generalize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codebases.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19.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952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Shailaja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Pede,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Prathmesh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Kolekar,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Aditya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Metkar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Resume</a:t>
                      </a:r>
                      <a:r>
                        <a:rPr sz="9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Parsing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Skill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Extraction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9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Custom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Pattern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Matching</a:t>
                      </a:r>
                      <a:r>
                        <a:rPr sz="9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Algorithm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Gemini</a:t>
                      </a:r>
                      <a:r>
                        <a:rPr sz="9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API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65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8th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International Conference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on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Computing, Communication,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Control,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Automation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(ICCUBEA),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00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pattern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matching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algorithm,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Gemini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API,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(specific dataset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details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not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provided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abstract)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521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pattern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matching algorithm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skills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203200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Integrated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Gemini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enhanced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skill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extraction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capabilities.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60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language compatibility issues.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 marR="236854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adapting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industry-specific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terminologies.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20.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6360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Bhupesh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Sahu,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Shakoor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Marju,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Aman</a:t>
                      </a:r>
                      <a:r>
                        <a:rPr sz="9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Shikalgar,</a:t>
                      </a:r>
                      <a:r>
                        <a:rPr sz="9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Dhiraj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Rupnashwar –</a:t>
                      </a:r>
                      <a:r>
                        <a:rPr sz="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AI-Powered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Resume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Screening: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Enhancing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Efficiency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Fairness</a:t>
                      </a:r>
                      <a:r>
                        <a:rPr sz="90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in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71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International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Conference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Artificial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Intelligence</a:t>
                      </a:r>
                      <a:r>
                        <a:rPr sz="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HR,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56210">
                        <a:lnSpc>
                          <a:spcPct val="100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algorithms, Natural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Language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(NLP), machine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models,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anonymized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2923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driven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screening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automates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extraction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skills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qualifications.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ts val="64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30%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reduction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2725" marR="189230" indent="-63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performance varies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industries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to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domain-specific terminologies.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ts val="64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accurately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65" y="6985"/>
            <a:ext cx="9083675" cy="552450"/>
            <a:chOff x="24765" y="6985"/>
            <a:chExt cx="9083675" cy="552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1338" y="32176"/>
              <a:ext cx="686528" cy="5092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899" y="520499"/>
                  </a:moveTo>
                  <a:lnTo>
                    <a:pt x="0" y="520499"/>
                  </a:lnTo>
                  <a:lnTo>
                    <a:pt x="0" y="0"/>
                  </a:lnTo>
                  <a:lnTo>
                    <a:pt x="8328899" y="0"/>
                  </a:lnTo>
                  <a:lnTo>
                    <a:pt x="8328899" y="520499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899" y="0"/>
                  </a:lnTo>
                  <a:lnTo>
                    <a:pt x="8328899" y="520499"/>
                  </a:lnTo>
                  <a:lnTo>
                    <a:pt x="0" y="520499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79119" y="4993676"/>
            <a:ext cx="7934959" cy="0"/>
          </a:xfrm>
          <a:custGeom>
            <a:avLst/>
            <a:gdLst/>
            <a:ahLst/>
            <a:cxnLst/>
            <a:rect l="l" t="t" r="r" b="b"/>
            <a:pathLst>
              <a:path w="7934959">
                <a:moveTo>
                  <a:pt x="0" y="0"/>
                </a:moveTo>
                <a:lnTo>
                  <a:pt x="7934959" y="0"/>
                </a:lnTo>
              </a:path>
            </a:pathLst>
          </a:custGeom>
          <a:ln w="9524">
            <a:solidFill>
              <a:srgbClr val="0054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spc="-10" dirty="0"/>
              <a:t>Design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36943" y="61942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143" y="1030909"/>
            <a:ext cx="10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0024" y="917988"/>
            <a:ext cx="6346000" cy="371647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93825" y="4612520"/>
            <a:ext cx="24644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Fit.1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Architecture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Career</a:t>
            </a:r>
            <a:r>
              <a:rPr sz="1000" spc="-10" dirty="0">
                <a:latin typeface="Times New Roman"/>
                <a:cs typeface="Times New Roman"/>
              </a:rPr>
              <a:t> Companion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11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45" dirty="0"/>
              <a:t> </a:t>
            </a:r>
            <a:r>
              <a:rPr b="0" spc="-10" dirty="0">
                <a:latin typeface="Times New Roman"/>
                <a:cs typeface="Times New Roman"/>
              </a:rPr>
              <a:t>(cont…)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0574" y="543388"/>
            <a:ext cx="7425055" cy="4231005"/>
            <a:chOff x="490574" y="543388"/>
            <a:chExt cx="7425055" cy="4231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74" y="543388"/>
              <a:ext cx="3250448" cy="42306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2675" y="583424"/>
              <a:ext cx="2812499" cy="41233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22950" y="4774770"/>
            <a:ext cx="2980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Fig.2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FlowChart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Resume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Generator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job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12</a:t>
            </a:fld>
            <a:r>
              <a:rPr spc="-25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75699" y="4774770"/>
            <a:ext cx="21901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Fig.3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FlowChart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Cover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Letter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generator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45" dirty="0"/>
              <a:t> </a:t>
            </a:r>
            <a:r>
              <a:rPr b="0" spc="-10" dirty="0">
                <a:latin typeface="Times New Roman"/>
                <a:cs typeface="Times New Roman"/>
              </a:rPr>
              <a:t>(cont…)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698" y="543400"/>
            <a:ext cx="3229869" cy="43461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67400" y="4778119"/>
            <a:ext cx="23520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Fig.4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FlowChart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interview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training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module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13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Tools,</a:t>
            </a:r>
            <a:r>
              <a:rPr spc="-35" dirty="0"/>
              <a:t> </a:t>
            </a:r>
            <a:r>
              <a:rPr dirty="0"/>
              <a:t>Technologies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Languages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14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143" y="621460"/>
            <a:ext cx="8147050" cy="328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Frontend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Development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React.js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Component-</a:t>
            </a:r>
            <a:r>
              <a:rPr sz="1400" dirty="0">
                <a:latin typeface="Arial MT"/>
                <a:cs typeface="Arial MT"/>
              </a:rPr>
              <a:t>based,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responsive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UI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Tailwind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CSS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Utility-</a:t>
            </a:r>
            <a:r>
              <a:rPr sz="1400" dirty="0">
                <a:latin typeface="Arial MT"/>
                <a:cs typeface="Arial MT"/>
              </a:rPr>
              <a:t>first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CSS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fast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styling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Chart.js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/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D3.js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Interactive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graphs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analytics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400" b="1" dirty="0">
                <a:latin typeface="Arial"/>
                <a:cs typeface="Arial"/>
              </a:rPr>
              <a:t>Backend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Development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0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Node.js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+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Express.js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API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handling,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server-</a:t>
            </a:r>
            <a:r>
              <a:rPr sz="1400" dirty="0">
                <a:latin typeface="Arial MT"/>
                <a:cs typeface="Arial MT"/>
              </a:rPr>
              <a:t>side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logic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REST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APIs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WebSockets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Real-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communication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coding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exams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interview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simulations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400" b="1" spc="-10" dirty="0">
                <a:latin typeface="Arial"/>
                <a:cs typeface="Arial"/>
              </a:rPr>
              <a:t>Databases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5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MongoDB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NoSQL,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flexible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resume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storage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MySQL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Relational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structured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exam/interview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records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Tools,</a:t>
            </a:r>
            <a:r>
              <a:rPr spc="-45" dirty="0"/>
              <a:t> </a:t>
            </a:r>
            <a:r>
              <a:rPr dirty="0"/>
              <a:t>Technologies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Languages</a:t>
            </a:r>
            <a:r>
              <a:rPr spc="-45" dirty="0"/>
              <a:t> </a:t>
            </a:r>
            <a:r>
              <a:rPr spc="-10" dirty="0"/>
              <a:t>(cont…)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15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143" y="621460"/>
            <a:ext cx="3055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Natural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Language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Processing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(NLP)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411" y="1061897"/>
            <a:ext cx="756920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14999"/>
              </a:lnSpc>
              <a:spcBef>
                <a:spcPts val="100"/>
              </a:spcBef>
              <a:buChar char="●"/>
              <a:tabLst>
                <a:tab pos="348615" algn="l"/>
              </a:tabLst>
            </a:pPr>
            <a:r>
              <a:rPr sz="1400" b="1" spc="-10" dirty="0">
                <a:latin typeface="Arial"/>
                <a:cs typeface="Arial"/>
              </a:rPr>
              <a:t>Transformer-</a:t>
            </a:r>
            <a:r>
              <a:rPr sz="1400" b="1" dirty="0">
                <a:latin typeface="Arial"/>
                <a:cs typeface="Arial"/>
              </a:rPr>
              <a:t>based</a:t>
            </a:r>
            <a:r>
              <a:rPr sz="1400" b="1" spc="90" dirty="0">
                <a:latin typeface="Arial"/>
                <a:cs typeface="Arial"/>
              </a:rPr>
              <a:t>  </a:t>
            </a:r>
            <a:r>
              <a:rPr sz="1400" b="1" dirty="0">
                <a:latin typeface="Arial"/>
                <a:cs typeface="Arial"/>
              </a:rPr>
              <a:t>LLMs</a:t>
            </a:r>
            <a:r>
              <a:rPr sz="1400" b="1" spc="95" dirty="0">
                <a:latin typeface="Arial"/>
                <a:cs typeface="Arial"/>
              </a:rPr>
              <a:t>  </a:t>
            </a:r>
            <a:r>
              <a:rPr sz="1400" dirty="0">
                <a:latin typeface="Arial MT"/>
                <a:cs typeface="Arial MT"/>
              </a:rPr>
              <a:t>(OpenAI</a:t>
            </a:r>
            <a:r>
              <a:rPr sz="1400" spc="9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GPT,</a:t>
            </a:r>
            <a:r>
              <a:rPr sz="1400" spc="9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LLaMA,</a:t>
            </a:r>
            <a:r>
              <a:rPr sz="1400" spc="9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Falcon,</a:t>
            </a:r>
            <a:r>
              <a:rPr sz="1400" spc="9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etc.)</a:t>
            </a:r>
            <a:r>
              <a:rPr sz="1400" spc="90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95" dirty="0">
                <a:latin typeface="Arial MT"/>
                <a:cs typeface="Arial MT"/>
              </a:rPr>
              <a:t>  </a:t>
            </a:r>
            <a:r>
              <a:rPr sz="1400" dirty="0">
                <a:latin typeface="Arial MT"/>
                <a:cs typeface="Arial MT"/>
              </a:rPr>
              <a:t>Resume</a:t>
            </a:r>
            <a:r>
              <a:rPr sz="1400" spc="95" dirty="0">
                <a:latin typeface="Arial MT"/>
                <a:cs typeface="Arial MT"/>
              </a:rPr>
              <a:t>  </a:t>
            </a:r>
            <a:r>
              <a:rPr sz="1400" spc="-10" dirty="0">
                <a:latin typeface="Arial MT"/>
                <a:cs typeface="Arial MT"/>
              </a:rPr>
              <a:t>parsing, </a:t>
            </a:r>
            <a:r>
              <a:rPr sz="1400" dirty="0">
                <a:latin typeface="Arial MT"/>
                <a:cs typeface="Arial MT"/>
              </a:rPr>
              <a:t>generation,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interview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Q&amp;A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250"/>
              </a:spcBef>
              <a:buChar char="●"/>
              <a:tabLst>
                <a:tab pos="347980" algn="l"/>
              </a:tabLst>
            </a:pPr>
            <a:r>
              <a:rPr sz="1400" b="1" dirty="0">
                <a:latin typeface="Arial"/>
                <a:cs typeface="Arial"/>
              </a:rPr>
              <a:t>Hugging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Face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Transformers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Fine-</a:t>
            </a:r>
            <a:r>
              <a:rPr sz="1400" dirty="0">
                <a:latin typeface="Arial MT"/>
                <a:cs typeface="Arial MT"/>
              </a:rPr>
              <a:t>tuned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text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classification,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job-</a:t>
            </a:r>
            <a:r>
              <a:rPr sz="1400" dirty="0">
                <a:latin typeface="Arial MT"/>
                <a:cs typeface="Arial MT"/>
              </a:rPr>
              <a:t>role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prediction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39295" y="1093901"/>
            <a:ext cx="460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cover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98169" y="1093901"/>
            <a:ext cx="4210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letter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5" dirty="0"/>
              <a:t> </a:t>
            </a:r>
            <a:r>
              <a:rPr spc="-10" dirty="0"/>
              <a:t>Learning</a:t>
            </a:r>
          </a:p>
          <a:p>
            <a:pPr marL="469265" indent="-335915">
              <a:lnSpc>
                <a:spcPct val="100000"/>
              </a:lnSpc>
              <a:spcBef>
                <a:spcPts val="1450"/>
              </a:spcBef>
              <a:buChar char="●"/>
              <a:tabLst>
                <a:tab pos="469265" algn="l"/>
              </a:tabLst>
            </a:pPr>
            <a:r>
              <a:rPr spc="-10" dirty="0"/>
              <a:t>Scikit-</a:t>
            </a:r>
            <a:r>
              <a:rPr dirty="0"/>
              <a:t>learn</a:t>
            </a:r>
            <a:r>
              <a:rPr spc="-25" dirty="0"/>
              <a:t> </a:t>
            </a:r>
            <a:r>
              <a:rPr b="0" dirty="0">
                <a:latin typeface="Arial MT"/>
                <a:cs typeface="Arial MT"/>
              </a:rPr>
              <a:t>–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Feature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extraction,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recommendation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algorithms</a:t>
            </a: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dirty="0"/>
              <a:t>TensorFlow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dirty="0"/>
              <a:t>PyTorch</a:t>
            </a:r>
            <a:r>
              <a:rPr spc="-15" dirty="0"/>
              <a:t> </a:t>
            </a:r>
            <a:r>
              <a:rPr b="0" dirty="0">
                <a:latin typeface="Arial MT"/>
                <a:cs typeface="Arial MT"/>
              </a:rPr>
              <a:t>–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Model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training,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evaluation,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embeddings</a:t>
            </a: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</a:tabLst>
            </a:pPr>
            <a:r>
              <a:rPr dirty="0"/>
              <a:t>LangChain</a:t>
            </a:r>
            <a:r>
              <a:rPr spc="-25" dirty="0"/>
              <a:t> </a:t>
            </a:r>
            <a:r>
              <a:rPr b="0" dirty="0">
                <a:latin typeface="Arial MT"/>
                <a:cs typeface="Arial MT"/>
              </a:rPr>
              <a:t>–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Orchestration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of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LLM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pipelines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for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career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tasks</a:t>
            </a: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Evaluation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Security</a:t>
            </a:r>
          </a:p>
          <a:p>
            <a:pPr marL="469265" indent="-335915">
              <a:lnSpc>
                <a:spcPct val="100000"/>
              </a:lnSpc>
              <a:spcBef>
                <a:spcPts val="1455"/>
              </a:spcBef>
              <a:buChar char="●"/>
              <a:tabLst>
                <a:tab pos="469265" algn="l"/>
              </a:tabLst>
            </a:pPr>
            <a:r>
              <a:rPr spc="-10" dirty="0"/>
              <a:t>Python-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Auto-</a:t>
            </a:r>
            <a:r>
              <a:rPr dirty="0"/>
              <a:t>graders</a:t>
            </a:r>
            <a:r>
              <a:rPr spc="-5" dirty="0"/>
              <a:t> </a:t>
            </a:r>
            <a:r>
              <a:rPr b="0" dirty="0">
                <a:latin typeface="Arial MT"/>
                <a:cs typeface="Arial MT"/>
              </a:rPr>
              <a:t>–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Test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case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execution,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efficiency</a:t>
            </a:r>
            <a:r>
              <a:rPr b="0" spc="-10" dirty="0">
                <a:latin typeface="Arial MT"/>
                <a:cs typeface="Arial MT"/>
              </a:rPr>
              <a:t> check</a:t>
            </a: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dirty="0"/>
              <a:t>Plagiarism</a:t>
            </a:r>
            <a:r>
              <a:rPr spc="-35" dirty="0"/>
              <a:t> </a:t>
            </a:r>
            <a:r>
              <a:rPr dirty="0"/>
              <a:t>Detection</a:t>
            </a:r>
            <a:r>
              <a:rPr spc="-25" dirty="0"/>
              <a:t> </a:t>
            </a:r>
            <a:r>
              <a:rPr dirty="0"/>
              <a:t>Models</a:t>
            </a:r>
            <a:r>
              <a:rPr spc="-20" dirty="0"/>
              <a:t> </a:t>
            </a:r>
            <a:r>
              <a:rPr b="0" dirty="0">
                <a:latin typeface="Arial MT"/>
                <a:cs typeface="Arial MT"/>
              </a:rPr>
              <a:t>–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Compare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code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submissions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for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originality</a:t>
            </a: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</a:tabLst>
            </a:pPr>
            <a:r>
              <a:rPr dirty="0"/>
              <a:t>Secure</a:t>
            </a:r>
            <a:r>
              <a:rPr spc="-35" dirty="0"/>
              <a:t> </a:t>
            </a:r>
            <a:r>
              <a:rPr dirty="0"/>
              <a:t>Code</a:t>
            </a:r>
            <a:r>
              <a:rPr spc="-20" dirty="0"/>
              <a:t> </a:t>
            </a:r>
            <a:r>
              <a:rPr dirty="0"/>
              <a:t>Editor</a:t>
            </a:r>
            <a:r>
              <a:rPr spc="-20" dirty="0"/>
              <a:t> </a:t>
            </a:r>
            <a:r>
              <a:rPr b="0" dirty="0">
                <a:latin typeface="Arial MT"/>
                <a:cs typeface="Arial MT"/>
              </a:rPr>
              <a:t>–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Sandbox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execution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with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anti-</a:t>
            </a:r>
            <a:r>
              <a:rPr b="0" dirty="0">
                <a:latin typeface="Arial MT"/>
                <a:cs typeface="Arial MT"/>
              </a:rPr>
              <a:t>cheating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mechanisms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65" y="6985"/>
            <a:ext cx="9083675" cy="552450"/>
            <a:chOff x="24765" y="6985"/>
            <a:chExt cx="9083675" cy="552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1338" y="32176"/>
              <a:ext cx="686528" cy="5092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899" y="520499"/>
                  </a:moveTo>
                  <a:lnTo>
                    <a:pt x="0" y="520499"/>
                  </a:lnTo>
                  <a:lnTo>
                    <a:pt x="0" y="0"/>
                  </a:lnTo>
                  <a:lnTo>
                    <a:pt x="8328899" y="0"/>
                  </a:lnTo>
                  <a:lnTo>
                    <a:pt x="8328899" y="520499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899" y="0"/>
                  </a:lnTo>
                  <a:lnTo>
                    <a:pt x="8328899" y="520499"/>
                  </a:lnTo>
                  <a:lnTo>
                    <a:pt x="0" y="520499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79119" y="4993676"/>
            <a:ext cx="7934959" cy="0"/>
          </a:xfrm>
          <a:custGeom>
            <a:avLst/>
            <a:gdLst/>
            <a:ahLst/>
            <a:cxnLst/>
            <a:rect l="l" t="t" r="r" b="b"/>
            <a:pathLst>
              <a:path w="7934959">
                <a:moveTo>
                  <a:pt x="0" y="0"/>
                </a:moveTo>
                <a:lnTo>
                  <a:pt x="7934959" y="0"/>
                </a:lnTo>
              </a:path>
            </a:pathLst>
          </a:custGeom>
          <a:ln w="9524">
            <a:solidFill>
              <a:srgbClr val="0054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Tools,</a:t>
            </a:r>
            <a:r>
              <a:rPr spc="-45" dirty="0"/>
              <a:t> </a:t>
            </a:r>
            <a:r>
              <a:rPr dirty="0"/>
              <a:t>Technologies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Languages</a:t>
            </a:r>
            <a:r>
              <a:rPr spc="-45" dirty="0"/>
              <a:t> </a:t>
            </a:r>
            <a:r>
              <a:rPr spc="-10" dirty="0"/>
              <a:t>(cont…)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16</a:t>
            </a:fld>
            <a:r>
              <a:rPr spc="-25" dirty="0"/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9222" y="605028"/>
            <a:ext cx="5977255" cy="3764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Cloud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Hosting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Arial"/>
              <a:cs typeface="Arial"/>
            </a:endParaRPr>
          </a:p>
          <a:p>
            <a:pPr marL="469265" indent="-32004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200" b="1" dirty="0">
                <a:latin typeface="Arial"/>
                <a:cs typeface="Arial"/>
              </a:rPr>
              <a:t>AWS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/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Azure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/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GCP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–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Hosting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backend,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models,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databases</a:t>
            </a:r>
            <a:endParaRPr sz="1200">
              <a:latin typeface="Arial MT"/>
              <a:cs typeface="Arial MT"/>
            </a:endParaRPr>
          </a:p>
          <a:p>
            <a:pPr marL="469265" indent="-320040">
              <a:lnSpc>
                <a:spcPct val="100000"/>
              </a:lnSpc>
              <a:spcBef>
                <a:spcPts val="219"/>
              </a:spcBef>
              <a:buChar char="●"/>
              <a:tabLst>
                <a:tab pos="469265" algn="l"/>
              </a:tabLst>
            </a:pPr>
            <a:r>
              <a:rPr sz="1200" b="1" dirty="0">
                <a:latin typeface="Arial"/>
                <a:cs typeface="Arial"/>
              </a:rPr>
              <a:t>Docker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&amp;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Kubernetes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–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Containerization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scaling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Development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Tools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5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Git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+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GitHub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Version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control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collaboration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VS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Code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/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Jupyter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Notebooks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Development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experimentation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400" b="1" dirty="0">
                <a:latin typeface="Arial"/>
                <a:cs typeface="Arial"/>
              </a:rPr>
              <a:t>Visualization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Analytics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5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Matplotlib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/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Seaborn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Graphs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coding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exam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performance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400" b="1" dirty="0">
                <a:latin typeface="Arial"/>
                <a:cs typeface="Arial"/>
              </a:rPr>
              <a:t>Programming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Languages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5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JavaScript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(React,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Node.js)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Frontend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backend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sz="1400" b="1" dirty="0">
                <a:latin typeface="Arial"/>
                <a:cs typeface="Arial"/>
              </a:rPr>
              <a:t>Python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AI/ML,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NLP,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evaluation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models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Dataset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17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380" y="620445"/>
            <a:ext cx="31476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1600" b="1" spc="-25" dirty="0">
                <a:latin typeface="Times New Roman"/>
                <a:cs typeface="Times New Roman"/>
              </a:rPr>
              <a:t>1.</a:t>
            </a:r>
            <a:r>
              <a:rPr sz="1600" b="1" dirty="0">
                <a:latin typeface="Times New Roman"/>
                <a:cs typeface="Times New Roman"/>
              </a:rPr>
              <a:t>	Resume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Job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Role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Prediction: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4111" y="880541"/>
            <a:ext cx="330835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35280" indent="-335280">
              <a:lnSpc>
                <a:spcPct val="100000"/>
              </a:lnSpc>
              <a:spcBef>
                <a:spcPts val="940"/>
              </a:spcBef>
              <a:buFont typeface="Arial MT"/>
              <a:buChar char="●"/>
              <a:tabLst>
                <a:tab pos="335280" algn="l"/>
                <a:tab pos="1101725" algn="l"/>
                <a:tab pos="1886585" algn="l"/>
                <a:tab pos="2642870" algn="l"/>
              </a:tabLst>
            </a:pPr>
            <a:r>
              <a:rPr sz="1400" spc="-10" dirty="0">
                <a:latin typeface="Times New Roman"/>
                <a:cs typeface="Times New Roman"/>
              </a:rPr>
              <a:t>Dataset: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Resume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Dataset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(Kaggle)</a:t>
            </a:r>
            <a:endParaRPr sz="1400">
              <a:latin typeface="Times New Roman"/>
              <a:cs typeface="Times New Roman"/>
            </a:endParaRPr>
          </a:p>
          <a:p>
            <a:pPr marL="335915">
              <a:lnSpc>
                <a:spcPct val="100000"/>
              </a:lnSpc>
              <a:spcBef>
                <a:spcPts val="840"/>
              </a:spcBef>
              <a:tabLst>
                <a:tab pos="3223260" algn="l"/>
              </a:tabLst>
            </a:pPr>
            <a:r>
              <a:rPr sz="1400" spc="-10" dirty="0">
                <a:latin typeface="Times New Roman"/>
                <a:cs typeface="Times New Roman"/>
              </a:rPr>
              <a:t>Available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0120" y="880541"/>
            <a:ext cx="521208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0"/>
              </a:spcBef>
              <a:tabLst>
                <a:tab pos="272415" algn="l"/>
                <a:tab pos="1048385" algn="l"/>
                <a:tab pos="1814195" algn="l"/>
                <a:tab pos="2511425" algn="l"/>
                <a:tab pos="3011170" algn="l"/>
                <a:tab pos="3422015" algn="l"/>
                <a:tab pos="4326255" algn="l"/>
                <a:tab pos="4766310" algn="l"/>
              </a:tabLst>
            </a:pPr>
            <a:r>
              <a:rPr sz="1400" spc="-50" dirty="0">
                <a:latin typeface="Times New Roman"/>
                <a:cs typeface="Times New Roman"/>
              </a:rPr>
              <a:t>–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contains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resumes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labeled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with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job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categories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and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skills.</a:t>
            </a:r>
            <a:endParaRPr sz="1400">
              <a:latin typeface="Times New Roman"/>
              <a:cs typeface="Times New Roman"/>
            </a:endParaRPr>
          </a:p>
          <a:p>
            <a:pPr marR="5715" algn="r">
              <a:lnSpc>
                <a:spcPct val="100000"/>
              </a:lnSpc>
              <a:spcBef>
                <a:spcPts val="840"/>
              </a:spcBef>
            </a:pPr>
            <a:r>
              <a:rPr sz="1400" u="heavy" spc="-2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  <a:hlinkClick r:id="rId2"/>
              </a:rPr>
              <a:t>https://resumeworded.com/resume-</a:t>
            </a:r>
            <a:r>
              <a:rPr sz="1400" u="heavy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  <a:hlinkClick r:id="rId2"/>
              </a:rPr>
              <a:t>templates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080" y="1520621"/>
            <a:ext cx="8719185" cy="13354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940"/>
              </a:spcBef>
            </a:pPr>
            <a:r>
              <a:rPr sz="1400" u="heavy" spc="-2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  <a:hlinkClick r:id="rId3"/>
              </a:rPr>
              <a:t>https://www.kaggle.com/datasets/snehaanbhawal/resume-</a:t>
            </a:r>
            <a:r>
              <a:rPr sz="1400" u="heavy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  <a:hlinkClick r:id="rId3"/>
              </a:rPr>
              <a:t>dataset</a:t>
            </a:r>
            <a:endParaRPr sz="1400">
              <a:latin typeface="Times New Roman"/>
              <a:cs typeface="Times New Roman"/>
            </a:endParaRPr>
          </a:p>
          <a:p>
            <a:pPr marL="380365" indent="-335915">
              <a:lnSpc>
                <a:spcPct val="100000"/>
              </a:lnSpc>
              <a:spcBef>
                <a:spcPts val="840"/>
              </a:spcBef>
              <a:buFont typeface="Arial MT"/>
              <a:buChar char="●"/>
              <a:tabLst>
                <a:tab pos="380365" algn="l"/>
                <a:tab pos="1195070" algn="l"/>
                <a:tab pos="1901189" algn="l"/>
                <a:tab pos="2558415" algn="l"/>
                <a:tab pos="3393440" algn="l"/>
                <a:tab pos="3853179" algn="l"/>
                <a:tab pos="4657090" algn="l"/>
                <a:tab pos="5354320" algn="l"/>
                <a:tab pos="5932170" algn="l"/>
                <a:tab pos="6746240" algn="l"/>
                <a:tab pos="7620000" algn="l"/>
                <a:tab pos="8364855" algn="l"/>
              </a:tabLst>
            </a:pPr>
            <a:r>
              <a:rPr sz="1400" spc="-10" dirty="0">
                <a:latin typeface="Times New Roman"/>
                <a:cs typeface="Times New Roman"/>
              </a:rPr>
              <a:t>Usage: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Train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NLP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models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to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extract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skills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and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predict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suitable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future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jobs.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380365" algn="l"/>
              </a:tabLst>
            </a:pPr>
            <a:r>
              <a:rPr sz="1600" b="1" spc="-25" dirty="0">
                <a:latin typeface="Times New Roman"/>
                <a:cs typeface="Times New Roman"/>
              </a:rPr>
              <a:t>1.</a:t>
            </a:r>
            <a:r>
              <a:rPr sz="1600" b="1" dirty="0">
                <a:latin typeface="Times New Roman"/>
                <a:cs typeface="Times New Roman"/>
              </a:rPr>
              <a:t>	Cover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Letter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Generator: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111" y="2953180"/>
            <a:ext cx="138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3528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35280" algn="l"/>
                <a:tab pos="1090930" algn="l"/>
              </a:tabLst>
            </a:pPr>
            <a:r>
              <a:rPr sz="1400" spc="-10" dirty="0">
                <a:latin typeface="Times New Roman"/>
                <a:cs typeface="Times New Roman"/>
              </a:rPr>
              <a:t>Dataset: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spc="-25" dirty="0">
                <a:latin typeface="Times New Roman"/>
                <a:cs typeface="Times New Roman"/>
              </a:rPr>
              <a:t>Job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2601" y="2953180"/>
            <a:ext cx="714755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3475" algn="l"/>
                <a:tab pos="1407795" algn="l"/>
                <a:tab pos="2143125" algn="l"/>
                <a:tab pos="2779395" algn="l"/>
                <a:tab pos="3496945" algn="l"/>
                <a:tab pos="4596130" algn="l"/>
                <a:tab pos="5584190" algn="l"/>
                <a:tab pos="6200775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Descriptions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50" dirty="0">
                <a:latin typeface="Times New Roman"/>
                <a:cs typeface="Times New Roman"/>
              </a:rPr>
              <a:t>+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Sample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Cover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Letters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(open-</a:t>
            </a:r>
            <a:r>
              <a:rPr sz="1400" spc="-10" dirty="0">
                <a:latin typeface="Times New Roman"/>
                <a:cs typeface="Times New Roman"/>
              </a:rPr>
              <a:t>source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collections,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online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repositories).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411" y="3166540"/>
            <a:ext cx="583628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940"/>
              </a:spcBef>
            </a:pPr>
            <a:r>
              <a:rPr sz="1400" spc="-10" dirty="0">
                <a:latin typeface="Times New Roman"/>
                <a:cs typeface="Times New Roman"/>
              </a:rPr>
              <a:t>Available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: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u="heavy" spc="-2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  <a:hlinkClick r:id="rId4"/>
              </a:rPr>
              <a:t>https://huggingface.co/datasets/ShashiVish/cover-</a:t>
            </a:r>
            <a:r>
              <a:rPr sz="1400" u="heavy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  <a:hlinkClick r:id="rId4"/>
              </a:rPr>
              <a:t>letter-dataset</a:t>
            </a:r>
            <a:endParaRPr sz="140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 MT"/>
              <a:buChar char="●"/>
              <a:tabLst>
                <a:tab pos="347980" algn="l"/>
              </a:tabLst>
            </a:pPr>
            <a:r>
              <a:rPr sz="1400" dirty="0">
                <a:latin typeface="Times New Roman"/>
                <a:cs typeface="Times New Roman"/>
              </a:rPr>
              <a:t>Usage: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Fine-</a:t>
            </a:r>
            <a:r>
              <a:rPr sz="1400" dirty="0">
                <a:latin typeface="Times New Roman"/>
                <a:cs typeface="Times New Roman"/>
              </a:rPr>
              <a:t>tune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LLMs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generate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ATS-friendly,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role-</a:t>
            </a:r>
            <a:r>
              <a:rPr sz="1400" dirty="0">
                <a:latin typeface="Times New Roman"/>
                <a:cs typeface="Times New Roman"/>
              </a:rPr>
              <a:t>specific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cover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letters.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 </a:t>
            </a:r>
            <a:r>
              <a:rPr spc="-10" dirty="0"/>
              <a:t>Learnings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18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143" y="620445"/>
            <a:ext cx="4900930" cy="307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indent="-276860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89560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Technical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Skills</a:t>
            </a:r>
            <a:endParaRPr sz="1600">
              <a:latin typeface="Times New Roman"/>
              <a:cs typeface="Times New Roman"/>
            </a:endParaRPr>
          </a:p>
          <a:p>
            <a:pPr marL="469265" lvl="1" indent="-335915">
              <a:lnSpc>
                <a:spcPct val="100000"/>
              </a:lnSpc>
              <a:spcBef>
                <a:spcPts val="1495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NLP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LLMs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resume,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cover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letter,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interview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modules</a:t>
            </a:r>
            <a:endParaRPr sz="1400">
              <a:latin typeface="Times New Roman"/>
              <a:cs typeface="Times New Roman"/>
            </a:endParaRPr>
          </a:p>
          <a:p>
            <a:pPr marL="469265" lvl="1" indent="-335915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coding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design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analytics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visualization</a:t>
            </a:r>
            <a:endParaRPr sz="14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266700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Methodologies</a:t>
            </a:r>
            <a:endParaRPr sz="1600">
              <a:latin typeface="Times New Roman"/>
              <a:cs typeface="Times New Roman"/>
            </a:endParaRPr>
          </a:p>
          <a:p>
            <a:pPr marL="469265" lvl="1" indent="-335915">
              <a:lnSpc>
                <a:spcPct val="100000"/>
              </a:lnSpc>
              <a:spcBef>
                <a:spcPts val="1495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AI-driven </a:t>
            </a:r>
            <a:r>
              <a:rPr sz="1400" spc="-10" dirty="0">
                <a:latin typeface="Times New Roman"/>
                <a:cs typeface="Times New Roman"/>
              </a:rPr>
              <a:t>recommendation</a:t>
            </a:r>
            <a:r>
              <a:rPr sz="1400" dirty="0">
                <a:latin typeface="Times New Roman"/>
                <a:cs typeface="Times New Roman"/>
              </a:rPr>
              <a:t> &amp;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skill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prediction</a:t>
            </a:r>
            <a:endParaRPr sz="1400">
              <a:latin typeface="Times New Roman"/>
              <a:cs typeface="Times New Roman"/>
            </a:endParaRPr>
          </a:p>
          <a:p>
            <a:pPr marL="469265" lvl="1" indent="-33591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Agile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development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GitHub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version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marL="266700" indent="-2540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266700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Outcomes</a:t>
            </a:r>
            <a:endParaRPr sz="1600">
              <a:latin typeface="Times New Roman"/>
              <a:cs typeface="Times New Roman"/>
            </a:endParaRPr>
          </a:p>
          <a:p>
            <a:pPr marL="469265" lvl="1" indent="-335915">
              <a:lnSpc>
                <a:spcPct val="100000"/>
              </a:lnSpc>
              <a:spcBef>
                <a:spcPts val="1500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Developed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AI-powered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career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platform</a:t>
            </a:r>
            <a:endParaRPr sz="1400">
              <a:latin typeface="Times New Roman"/>
              <a:cs typeface="Times New Roman"/>
            </a:endParaRPr>
          </a:p>
          <a:p>
            <a:pPr marL="469265" lvl="1" indent="-335915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spc="-20" dirty="0">
                <a:latin typeface="Times New Roman"/>
                <a:cs typeface="Times New Roman"/>
              </a:rPr>
              <a:t>Open-</a:t>
            </a:r>
            <a:r>
              <a:rPr sz="1400" dirty="0">
                <a:latin typeface="Times New Roman"/>
                <a:cs typeface="Times New Roman"/>
              </a:rPr>
              <a:t>source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10" dirty="0">
                <a:latin typeface="Times New Roman"/>
                <a:cs typeface="Times New Roman"/>
              </a:rPr>
              <a:t> certifications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AI/ML</a:t>
            </a:r>
            <a:r>
              <a:rPr sz="1400" spc="-10" dirty="0">
                <a:latin typeface="Times New Roman"/>
                <a:cs typeface="Times New Roman"/>
              </a:rPr>
              <a:t> tools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</a:t>
            </a:r>
            <a:r>
              <a:rPr spc="-20" dirty="0"/>
              <a:t> </a:t>
            </a:r>
            <a:r>
              <a:rPr dirty="0"/>
              <a:t>Plan</a:t>
            </a:r>
            <a:r>
              <a:rPr spc="-15" dirty="0"/>
              <a:t> </a:t>
            </a:r>
            <a:r>
              <a:rPr dirty="0"/>
              <a:t>till</a:t>
            </a:r>
            <a:r>
              <a:rPr spc="-15" dirty="0"/>
              <a:t> </a:t>
            </a:r>
            <a:r>
              <a:rPr dirty="0"/>
              <a:t>End-Term</a:t>
            </a:r>
            <a:r>
              <a:rPr spc="-10" dirty="0"/>
              <a:t> Evaluation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19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143" y="621460"/>
            <a:ext cx="7383145" cy="4324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Frontend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Development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Build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website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structure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using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React.js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+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Tailwind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CSS</a:t>
            </a:r>
            <a:r>
              <a:rPr sz="1400" spc="-2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Design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responsive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UI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Resume,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Cover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Letter,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Interview,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Coding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modules.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400" b="1" dirty="0">
                <a:latin typeface="Arial"/>
                <a:cs typeface="Arial"/>
              </a:rPr>
              <a:t>Backend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Database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Setup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0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Configure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Node.js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+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Express.js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backend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Set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up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MongoDB/MySQL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databases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resumes,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attempts.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400" b="1" dirty="0">
                <a:latin typeface="Arial"/>
                <a:cs typeface="Arial"/>
              </a:rPr>
              <a:t>Feature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Implementation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0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Resume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Cover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Letter: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Input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forms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template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generation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Resume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Generator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basic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working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future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job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role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prediction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400" b="1" dirty="0">
                <a:latin typeface="Arial"/>
                <a:cs typeface="Arial"/>
              </a:rPr>
              <a:t>Integration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Testing</a:t>
            </a:r>
            <a:endParaRPr sz="1400">
              <a:latin typeface="Arial"/>
              <a:cs typeface="Arial"/>
            </a:endParaRPr>
          </a:p>
          <a:p>
            <a:pPr marL="469265" indent="-335915">
              <a:lnSpc>
                <a:spcPct val="100000"/>
              </a:lnSpc>
              <a:spcBef>
                <a:spcPts val="1450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Link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frontend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backend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modules.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Ensure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smooth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flow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across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website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sections.</a:t>
            </a:r>
            <a:endParaRPr sz="140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sz="1400" dirty="0">
                <a:latin typeface="Arial MT"/>
                <a:cs typeface="Arial MT"/>
              </a:rPr>
              <a:t>Internal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testing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usability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bug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fixes.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spc="-20" dirty="0"/>
              <a:t>Plan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695325"/>
            <a:ext cx="7486649" cy="37528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20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63059" y="4993054"/>
            <a:ext cx="6690359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  <a:tabLst>
                <a:tab pos="6546850" algn="l"/>
              </a:tabLst>
            </a:pP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Major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Project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(18B19CI791)</a:t>
            </a:r>
            <a:r>
              <a:rPr sz="900" spc="-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Mid-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Term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Evaluation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Department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CSE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&amp;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IT</a:t>
            </a:r>
            <a:r>
              <a:rPr sz="900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|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AY</a:t>
            </a:r>
            <a:r>
              <a:rPr sz="900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2025-</a:t>
            </a:r>
            <a:r>
              <a:rPr sz="900" spc="-25" dirty="0">
                <a:solidFill>
                  <a:srgbClr val="002060"/>
                </a:solidFill>
                <a:latin typeface="Times New Roman"/>
                <a:cs typeface="Times New Roman"/>
              </a:rPr>
              <a:t>26.</a:t>
            </a:r>
            <a:r>
              <a:rPr sz="900" dirty="0">
                <a:solidFill>
                  <a:srgbClr val="002060"/>
                </a:solidFill>
                <a:latin typeface="Times New Roman"/>
                <a:cs typeface="Times New Roman"/>
              </a:rPr>
              <a:t>	</a:t>
            </a:r>
            <a:r>
              <a:rPr sz="1350" spc="-37" baseline="-18518" dirty="0">
                <a:solidFill>
                  <a:srgbClr val="005493"/>
                </a:solidFill>
                <a:latin typeface="Times New Roman"/>
                <a:cs typeface="Times New Roman"/>
              </a:rPr>
              <a:t>21.</a:t>
            </a:r>
            <a:endParaRPr sz="1350" baseline="-18518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65" y="6985"/>
            <a:ext cx="8361045" cy="552450"/>
            <a:chOff x="24765" y="6985"/>
            <a:chExt cx="8361045" cy="552450"/>
          </a:xfrm>
        </p:grpSpPr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752" y="520547"/>
                  </a:moveTo>
                  <a:lnTo>
                    <a:pt x="0" y="520547"/>
                  </a:lnTo>
                  <a:lnTo>
                    <a:pt x="0" y="0"/>
                  </a:lnTo>
                  <a:lnTo>
                    <a:pt x="8328752" y="0"/>
                  </a:lnTo>
                  <a:lnTo>
                    <a:pt x="8328752" y="520547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752" y="0"/>
                  </a:lnTo>
                  <a:lnTo>
                    <a:pt x="8328752" y="520547"/>
                  </a:lnTo>
                  <a:lnTo>
                    <a:pt x="0" y="520547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4153" y="75362"/>
            <a:ext cx="4704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</a:t>
            </a:r>
            <a:r>
              <a:rPr spc="-50" dirty="0"/>
              <a:t> </a:t>
            </a:r>
            <a:r>
              <a:rPr spc="-10" dirty="0"/>
              <a:t>Contribution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Attendance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-6" y="901062"/>
            <a:ext cx="9144635" cy="4242435"/>
            <a:chOff x="-6" y="901062"/>
            <a:chExt cx="9144635" cy="4242435"/>
          </a:xfrm>
        </p:grpSpPr>
        <p:sp>
          <p:nvSpPr>
            <p:cNvPr id="9" name="object 9"/>
            <p:cNvSpPr/>
            <p:nvPr/>
          </p:nvSpPr>
          <p:spPr>
            <a:xfrm>
              <a:off x="-6" y="901062"/>
              <a:ext cx="9144635" cy="4242435"/>
            </a:xfrm>
            <a:custGeom>
              <a:avLst/>
              <a:gdLst/>
              <a:ahLst/>
              <a:cxnLst/>
              <a:rect l="l" t="t" r="r" b="b"/>
              <a:pathLst>
                <a:path w="9144635" h="4242435">
                  <a:moveTo>
                    <a:pt x="0" y="4242436"/>
                  </a:moveTo>
                  <a:lnTo>
                    <a:pt x="9144006" y="4242436"/>
                  </a:lnTo>
                  <a:lnTo>
                    <a:pt x="9144006" y="0"/>
                  </a:lnTo>
                  <a:lnTo>
                    <a:pt x="0" y="0"/>
                  </a:lnTo>
                  <a:lnTo>
                    <a:pt x="0" y="4242436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106813"/>
              <a:ext cx="9144000" cy="2037080"/>
            </a:xfrm>
            <a:custGeom>
              <a:avLst/>
              <a:gdLst/>
              <a:ahLst/>
              <a:cxnLst/>
              <a:rect l="l" t="t" r="r" b="b"/>
              <a:pathLst>
                <a:path w="9144000" h="2037079">
                  <a:moveTo>
                    <a:pt x="9144000" y="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46404"/>
                  </a:lnTo>
                  <a:lnTo>
                    <a:pt x="0" y="2036686"/>
                  </a:lnTo>
                  <a:lnTo>
                    <a:pt x="1008786" y="2036686"/>
                  </a:lnTo>
                  <a:lnTo>
                    <a:pt x="1891931" y="2036686"/>
                  </a:lnTo>
                  <a:lnTo>
                    <a:pt x="5915266" y="2036686"/>
                  </a:lnTo>
                  <a:lnTo>
                    <a:pt x="7321461" y="2036686"/>
                  </a:lnTo>
                  <a:lnTo>
                    <a:pt x="8111680" y="2036686"/>
                  </a:lnTo>
                  <a:lnTo>
                    <a:pt x="9144000" y="2036686"/>
                  </a:lnTo>
                  <a:lnTo>
                    <a:pt x="9144000" y="84640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4F9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952389"/>
              </p:ext>
            </p:extLst>
          </p:nvPr>
        </p:nvGraphicFramePr>
        <p:xfrm>
          <a:off x="0" y="543387"/>
          <a:ext cx="9142093" cy="45980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6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2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  <a:spcBef>
                          <a:spcPts val="18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Roll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  <a:spcBef>
                          <a:spcPts val="18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Done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  <a:spcBef>
                          <a:spcPts val="18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Contribution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(%)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  <a:spcBef>
                          <a:spcPts val="18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Lines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65"/>
                        </a:lnSpc>
                        <a:spcBef>
                          <a:spcPts val="185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Lab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Attendance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(provide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details)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(%)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(if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any)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29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900" dirty="0">
                          <a:latin typeface="Times New Roman"/>
                          <a:cs typeface="Times New Roman"/>
                        </a:rPr>
                        <a:t>1.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221030169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297180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Researched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papers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career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guidance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parsing.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Worked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Generator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prediction.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Assisted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Letter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Generator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setup.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Prepared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PPT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slides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modules.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Prepared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Report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mid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Evaluation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900" dirty="0">
                          <a:latin typeface="Times New Roman"/>
                          <a:cs typeface="Times New Roman"/>
                        </a:rPr>
                        <a:t>2.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221030359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297180">
                        <a:lnSpc>
                          <a:spcPct val="100000"/>
                        </a:lnSpc>
                        <a:spcBef>
                          <a:spcPts val="19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Researched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papers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MongoDB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backend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connected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frontend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Assisted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integrating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Resume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Letter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Generator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backend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Prepared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PPT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slides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cloud/backend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section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58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900" dirty="0">
                          <a:latin typeface="Times New Roman"/>
                          <a:cs typeface="Times New Roman"/>
                        </a:rPr>
                        <a:t>3.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221030199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297180">
                        <a:lnSpc>
                          <a:spcPct val="100000"/>
                        </a:lnSpc>
                        <a:spcBef>
                          <a:spcPts val="19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Researched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papers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Assisted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implementing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suggestions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Generator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Contributed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flowcharts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 system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diagrams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mid-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term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Prepared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PPT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slides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AI/ML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sections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99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900" dirty="0">
                          <a:latin typeface="Times New Roman"/>
                          <a:cs typeface="Times New Roman"/>
                        </a:rPr>
                        <a:t>4.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221030420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297180">
                        <a:lnSpc>
                          <a:spcPct val="100000"/>
                        </a:lnSpc>
                        <a:spcBef>
                          <a:spcPts val="19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Researched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papers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Worked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website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frontend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integration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Assisted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connecting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Resume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Letter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Generator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database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Prepared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PPT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slides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website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deployment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demo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2290" indent="-29718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Prepared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Report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mid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Eval.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1422" y="619587"/>
            <a:ext cx="6194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GitHub</a:t>
            </a:r>
            <a:r>
              <a:rPr sz="1000" b="1" spc="6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Repository</a:t>
            </a:r>
            <a:r>
              <a:rPr sz="1000" b="1" spc="7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URL:</a:t>
            </a:r>
            <a:r>
              <a:rPr sz="1000" b="1" spc="385" dirty="0">
                <a:latin typeface="Times New Roman"/>
                <a:cs typeface="Times New Roman"/>
              </a:rPr>
              <a:t> </a:t>
            </a:r>
            <a:r>
              <a:rPr sz="1000" b="1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</a:rPr>
              <a:t>https://github.com/221030169/AI-Powered-Career-Growth-and-Productivity-Platform-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40" y="908567"/>
            <a:ext cx="827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Team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795" dirty="0">
                <a:latin typeface="Times New Roman"/>
                <a:cs typeface="Times New Roman"/>
              </a:rPr>
              <a:t>M</a:t>
            </a:r>
            <a:r>
              <a:rPr sz="1350" spc="-675" baseline="6172" dirty="0">
                <a:latin typeface="Times New Roman"/>
                <a:cs typeface="Times New Roman"/>
              </a:rPr>
              <a:t>243</a:t>
            </a:r>
            <a:r>
              <a:rPr sz="1350" baseline="6172" dirty="0">
                <a:latin typeface="Times New Roman"/>
                <a:cs typeface="Times New Roman"/>
              </a:rPr>
              <a:t>1.</a:t>
            </a:r>
            <a:r>
              <a:rPr sz="1350" spc="-165" baseline="6172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ember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Supervisor</a:t>
            </a:r>
            <a:r>
              <a:rPr spc="-30" dirty="0"/>
              <a:t> </a:t>
            </a:r>
            <a:r>
              <a:rPr spc="-10" dirty="0"/>
              <a:t>Interactions</a:t>
            </a:r>
            <a:r>
              <a:rPr spc="-5" dirty="0"/>
              <a:t> </a:t>
            </a:r>
            <a:r>
              <a:rPr b="0" dirty="0">
                <a:latin typeface="Times New Roman"/>
                <a:cs typeface="Times New Roman"/>
              </a:rPr>
              <a:t>(as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mentioned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weekly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log)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22</a:t>
            </a:fld>
            <a:r>
              <a:rPr spc="-25" dirty="0"/>
              <a:t>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768" y="596787"/>
          <a:ext cx="8834119" cy="4251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Meetings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Supervisor:</a:t>
                      </a:r>
                      <a:r>
                        <a:rPr sz="1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884">
                <a:tc>
                  <a:txBody>
                    <a:bodyPr/>
                    <a:lstStyle/>
                    <a:p>
                      <a:pPr marL="232410" marR="170180" indent="-546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Week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Duration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mentioned</a:t>
                      </a:r>
                      <a:r>
                        <a:rPr sz="1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weekly</a:t>
                      </a: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 log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tc>
                  <a:txBody>
                    <a:bodyPr/>
                    <a:lstStyle/>
                    <a:p>
                      <a:pPr marL="374650" marR="278765" indent="-882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Incorporated (Yes/No)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18/08/2025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2430" marR="384810" indent="-635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23/08/2025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211454" indent="-106680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Decide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000" spc="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title.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1454" indent="-10668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Refine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proposal.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1454" indent="-10668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Submit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proposal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01/09/2025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2430" marR="384810" indent="-635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06/09/2025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1454" indent="-106680">
                        <a:lnSpc>
                          <a:spcPct val="100000"/>
                        </a:lnSpc>
                        <a:spcBef>
                          <a:spcPts val="180"/>
                        </a:spcBef>
                        <a:buSzPct val="90909"/>
                        <a:buChar char="•"/>
                        <a:tabLst>
                          <a:tab pos="211454" algn="l"/>
                        </a:tabLst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workflow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diagram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211454" indent="-10668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Divide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project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various models.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3.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15/09/2025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2430" marR="384810" indent="-635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20/09/2025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marL="211454" indent="-106680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github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repo.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1454" indent="-10668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roadmap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discussed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1454" indent="-10668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Flow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charts,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DFD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1454" indent="-10668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Maintain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Github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Repo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1454" indent="-10668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approx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20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4.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22/09/2025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2430" marR="384810" indent="-635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27/09/2025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marL="211454" indent="-106680">
                        <a:lnSpc>
                          <a:spcPct val="100000"/>
                        </a:lnSpc>
                        <a:spcBef>
                          <a:spcPts val="185"/>
                        </a:spcBef>
                        <a:buFont typeface="Arial MT"/>
                        <a:buChar char="•"/>
                        <a:tabLst>
                          <a:tab pos="211454" algn="l"/>
                        </a:tabLst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Reading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completed.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23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593" y="597838"/>
            <a:ext cx="8438515" cy="3872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4154">
              <a:lnSpc>
                <a:spcPct val="114999"/>
              </a:lnSpc>
              <a:spcBef>
                <a:spcPts val="100"/>
              </a:spcBef>
              <a:buAutoNum type="arabicPlain"/>
              <a:tabLst>
                <a:tab pos="236854" algn="l"/>
              </a:tabLst>
            </a:pPr>
            <a:r>
              <a:rPr sz="1100" dirty="0">
                <a:latin typeface="Arial MT"/>
                <a:cs typeface="Arial MT"/>
              </a:rPr>
              <a:t>T.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T.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H.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Nguyen,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al.,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"SimInterview: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Transforming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Education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LLM-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Simulated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Multilingual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Interview Training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System,"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arXiv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preprint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arXiv:2508.11873</a:t>
            </a:r>
            <a:r>
              <a:rPr sz="1100" spc="-10" dirty="0">
                <a:latin typeface="Arial MT"/>
                <a:cs typeface="Arial MT"/>
              </a:rPr>
              <a:t>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[Online].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Available: </a:t>
            </a:r>
            <a:r>
              <a:rPr sz="11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2"/>
              </a:rPr>
              <a:t>https://arxiv.org/abs/2508.11873v1</a:t>
            </a:r>
            <a:endParaRPr sz="1100">
              <a:latin typeface="Arial MT"/>
              <a:cs typeface="Arial MT"/>
            </a:endParaRPr>
          </a:p>
          <a:p>
            <a:pPr marL="12700" marR="5715" indent="220979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233679" algn="l"/>
                <a:tab pos="1151255" algn="l"/>
                <a:tab pos="1899285" algn="l"/>
                <a:tab pos="2305685" algn="l"/>
                <a:tab pos="3340735" algn="l"/>
                <a:tab pos="4228465" algn="l"/>
                <a:tab pos="4751705" algn="l"/>
                <a:tab pos="5530850" algn="l"/>
                <a:tab pos="6316345" algn="l"/>
                <a:tab pos="6955790" algn="l"/>
                <a:tab pos="7764780" algn="l"/>
              </a:tabLst>
            </a:pPr>
            <a:r>
              <a:rPr sz="1100" dirty="0">
                <a:latin typeface="Arial MT"/>
                <a:cs typeface="Arial MT"/>
              </a:rPr>
              <a:t>H.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Koshti,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al.,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"AI-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Interview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Preparation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System: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Integrating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Resume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Analysis,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HR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Simulation,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Technical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Skill Assessment,"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i="1" spc="-10" dirty="0">
                <a:latin typeface="Arial"/>
                <a:cs typeface="Arial"/>
              </a:rPr>
              <a:t>Journal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of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10" dirty="0">
                <a:latin typeface="Arial"/>
                <a:cs typeface="Arial"/>
              </a:rPr>
              <a:t>Engineering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10" dirty="0">
                <a:latin typeface="Arial"/>
                <a:cs typeface="Arial"/>
              </a:rPr>
              <a:t>Research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and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10" dirty="0">
                <a:latin typeface="Arial"/>
                <a:cs typeface="Arial"/>
              </a:rPr>
              <a:t>Reports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10" dirty="0">
                <a:latin typeface="Arial"/>
                <a:cs typeface="Arial"/>
              </a:rPr>
              <a:t>(JERR)</a:t>
            </a:r>
            <a:r>
              <a:rPr sz="1100" spc="-10" dirty="0">
                <a:latin typeface="Arial MT"/>
                <a:cs typeface="Arial MT"/>
              </a:rPr>
              <a:t>,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10" dirty="0">
                <a:latin typeface="Arial MT"/>
                <a:cs typeface="Arial MT"/>
              </a:rPr>
              <a:t>2025.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10" dirty="0">
                <a:latin typeface="Arial MT"/>
                <a:cs typeface="Arial MT"/>
              </a:rPr>
              <a:t>[Online].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10" dirty="0">
                <a:latin typeface="Arial MT"/>
                <a:cs typeface="Arial MT"/>
              </a:rPr>
              <a:t>Available: </a:t>
            </a:r>
            <a:r>
              <a:rPr sz="11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3"/>
              </a:rPr>
              <a:t>https://journaljerr.com/index.php/JERR/article/view/1489</a:t>
            </a:r>
            <a:endParaRPr sz="1100">
              <a:latin typeface="Arial MT"/>
              <a:cs typeface="Arial MT"/>
            </a:endParaRPr>
          </a:p>
          <a:p>
            <a:pPr marL="12700" marR="20955" indent="225425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238125" algn="l"/>
              </a:tabLst>
            </a:pPr>
            <a:r>
              <a:rPr sz="1100" dirty="0">
                <a:latin typeface="Arial MT"/>
                <a:cs typeface="Arial MT"/>
              </a:rPr>
              <a:t>M.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Gayathri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Devi,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al.,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"AI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Friendly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Resume,"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International</a:t>
            </a:r>
            <a:r>
              <a:rPr sz="1100" i="1" spc="2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Journal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2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Scientific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Research</a:t>
            </a:r>
            <a:r>
              <a:rPr sz="1100" i="1" spc="2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Engineering</a:t>
            </a:r>
            <a:r>
              <a:rPr sz="1100" i="1" spc="2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229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Management </a:t>
            </a:r>
            <a:r>
              <a:rPr sz="1100" i="1" dirty="0">
                <a:latin typeface="Arial"/>
                <a:cs typeface="Arial"/>
              </a:rPr>
              <a:t>(IJSREM)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[Online].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Available: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4"/>
              </a:rPr>
              <a:t>https://ijsrem.com/download/ai-friendly-resume/</a:t>
            </a:r>
            <a:endParaRPr sz="1100">
              <a:latin typeface="Arial MT"/>
              <a:cs typeface="Arial MT"/>
            </a:endParaRPr>
          </a:p>
          <a:p>
            <a:pPr marL="12700" marR="14604" indent="214629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227329" algn="l"/>
              </a:tabLst>
            </a:pPr>
            <a:r>
              <a:rPr sz="1100" dirty="0">
                <a:latin typeface="Arial MT"/>
                <a:cs typeface="Arial MT"/>
              </a:rPr>
              <a:t>N.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Kadam,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Pawar,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Pandit,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None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Phalke,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None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S.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Jagadale,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"AI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Recruitment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System,"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Arial"/>
                <a:cs typeface="Arial"/>
              </a:rPr>
              <a:t>Deleted </a:t>
            </a:r>
            <a:r>
              <a:rPr sz="1100" i="1" dirty="0">
                <a:latin typeface="Arial"/>
                <a:cs typeface="Arial"/>
              </a:rPr>
              <a:t>Journal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07,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pp.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3203–3208,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Jul.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[Online].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Available: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5"/>
              </a:rPr>
              <a:t>https://irjaeh.com/index.php/journal/article/view/994</a:t>
            </a:r>
            <a:endParaRPr sz="1100">
              <a:latin typeface="Arial MT"/>
              <a:cs typeface="Arial MT"/>
            </a:endParaRPr>
          </a:p>
          <a:p>
            <a:pPr marL="12700" marR="17780" indent="221615" algn="just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234315" algn="l"/>
              </a:tabLst>
            </a:pPr>
            <a:r>
              <a:rPr sz="1100" dirty="0">
                <a:latin typeface="Arial MT"/>
                <a:cs typeface="Arial MT"/>
              </a:rPr>
              <a:t>S.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Divya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V.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Manaswini,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"Personalized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Career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Recommendation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Machine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Learning,"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International</a:t>
            </a:r>
            <a:r>
              <a:rPr sz="1100" i="1" spc="18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Research </a:t>
            </a:r>
            <a:r>
              <a:rPr sz="1100" i="1" dirty="0">
                <a:latin typeface="Arial"/>
                <a:cs typeface="Arial"/>
              </a:rPr>
              <a:t>Journal</a:t>
            </a:r>
            <a:r>
              <a:rPr sz="1100" i="1" spc="4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4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Modernization</a:t>
            </a:r>
            <a:r>
              <a:rPr sz="1100" i="1" spc="4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4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Engineering</a:t>
            </a:r>
            <a:r>
              <a:rPr sz="1100" i="1" spc="4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Technology</a:t>
            </a:r>
            <a:r>
              <a:rPr sz="1100" i="1" spc="4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&amp;</a:t>
            </a:r>
            <a:r>
              <a:rPr sz="1100" i="1" spc="4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Science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07,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07,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pp.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1–10,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Jul.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2025.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[Online].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Available: </a:t>
            </a:r>
            <a:r>
              <a:rPr sz="11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6"/>
              </a:rPr>
              <a:t>https://www.irjmets.com/upload_newfiles/irjmets70700103353/paper_file/irjmets70700103353.pdf</a:t>
            </a:r>
            <a:endParaRPr sz="1100">
              <a:latin typeface="Arial MT"/>
              <a:cs typeface="Arial MT"/>
            </a:endParaRPr>
          </a:p>
          <a:p>
            <a:pPr marL="12700" marR="5080" indent="226695" algn="just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239395" algn="l"/>
                <a:tab pos="2702560" algn="l"/>
                <a:tab pos="5176520" algn="l"/>
                <a:tab pos="7820025" algn="l"/>
              </a:tabLst>
            </a:pPr>
            <a:r>
              <a:rPr sz="1100" dirty="0">
                <a:latin typeface="Arial MT"/>
                <a:cs typeface="Arial MT"/>
              </a:rPr>
              <a:t>T.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Bloch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I.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Inusa,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"GPT-3-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Cover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Letter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Generator: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Feasibility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Study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Implementation,"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5th</a:t>
            </a:r>
            <a:r>
              <a:rPr sz="1100" i="1" spc="254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International </a:t>
            </a:r>
            <a:r>
              <a:rPr sz="1100" i="1" dirty="0">
                <a:latin typeface="Arial"/>
                <a:cs typeface="Arial"/>
              </a:rPr>
              <a:t>Conference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on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Recent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Trends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Machine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Learning,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IoT,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Smart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Cities,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Applications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Lecture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Notes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Networks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Systems, Springer,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10" dirty="0">
                <a:latin typeface="Arial MT"/>
                <a:cs typeface="Arial MT"/>
              </a:rPr>
              <a:t>2025.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10" dirty="0">
                <a:latin typeface="Arial MT"/>
                <a:cs typeface="Arial MT"/>
              </a:rPr>
              <a:t>[Online].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10" dirty="0">
                <a:latin typeface="Arial MT"/>
                <a:cs typeface="Arial MT"/>
              </a:rPr>
              <a:t>Available: </a:t>
            </a:r>
            <a:r>
              <a:rPr sz="11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7"/>
              </a:rPr>
              <a:t>https://www.researchgate.net/publication/389461890_GPT-3-Based_AI_Cover_Letter_Generator_A_Feasibility_Study_Implementation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45" dirty="0"/>
              <a:t> </a:t>
            </a:r>
            <a:r>
              <a:rPr b="0" spc="-10" dirty="0">
                <a:latin typeface="Times New Roman"/>
                <a:cs typeface="Times New Roman"/>
              </a:rPr>
              <a:t>(cont…)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24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600" y="600634"/>
            <a:ext cx="8311515" cy="426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30" indent="202565" algn="just">
              <a:lnSpc>
                <a:spcPct val="114999"/>
              </a:lnSpc>
              <a:spcBef>
                <a:spcPts val="100"/>
              </a:spcBef>
              <a:buAutoNum type="arabicPlain" startAt="7"/>
              <a:tabLst>
                <a:tab pos="215265" algn="l"/>
              </a:tabLst>
            </a:pPr>
            <a:r>
              <a:rPr sz="1000" dirty="0">
                <a:latin typeface="Arial MT"/>
                <a:cs typeface="Arial MT"/>
              </a:rPr>
              <a:t>A.</a:t>
            </a:r>
            <a:r>
              <a:rPr sz="1000" spc="2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S.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Abishek,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C.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Hubert,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D.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S.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Dhanvarshan,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D.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S.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Kumar,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"Automated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Code</a:t>
            </a:r>
            <a:r>
              <a:rPr sz="1000" spc="2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Review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Feedback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using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Machine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Learning," </a:t>
            </a:r>
            <a:r>
              <a:rPr sz="1000" i="1" dirty="0">
                <a:latin typeface="Arial"/>
                <a:cs typeface="Arial"/>
              </a:rPr>
              <a:t>International</a:t>
            </a:r>
            <a:r>
              <a:rPr sz="1000" i="1" spc="260" dirty="0">
                <a:latin typeface="Arial"/>
                <a:cs typeface="Arial"/>
              </a:rPr>
              <a:t>   </a:t>
            </a:r>
            <a:r>
              <a:rPr sz="1000" i="1" dirty="0">
                <a:latin typeface="Arial"/>
                <a:cs typeface="Arial"/>
              </a:rPr>
              <a:t>Journal</a:t>
            </a:r>
            <a:r>
              <a:rPr sz="1000" i="1" spc="265" dirty="0">
                <a:latin typeface="Arial"/>
                <a:cs typeface="Arial"/>
              </a:rPr>
              <a:t>   </a:t>
            </a:r>
            <a:r>
              <a:rPr sz="1000" i="1" dirty="0">
                <a:latin typeface="Arial"/>
                <a:cs typeface="Arial"/>
              </a:rPr>
              <a:t>of</a:t>
            </a:r>
            <a:r>
              <a:rPr sz="1000" i="1" spc="265" dirty="0">
                <a:latin typeface="Arial"/>
                <a:cs typeface="Arial"/>
              </a:rPr>
              <a:t>   </a:t>
            </a:r>
            <a:r>
              <a:rPr sz="1000" i="1" dirty="0">
                <a:latin typeface="Arial"/>
                <a:cs typeface="Arial"/>
              </a:rPr>
              <a:t>Novel</a:t>
            </a:r>
            <a:r>
              <a:rPr sz="1000" i="1" spc="265" dirty="0">
                <a:latin typeface="Arial"/>
                <a:cs typeface="Arial"/>
              </a:rPr>
              <a:t>   </a:t>
            </a:r>
            <a:r>
              <a:rPr sz="1000" i="1" dirty="0">
                <a:latin typeface="Arial"/>
                <a:cs typeface="Arial"/>
              </a:rPr>
              <a:t>Research</a:t>
            </a:r>
            <a:r>
              <a:rPr sz="1000" i="1" spc="265" dirty="0">
                <a:latin typeface="Arial"/>
                <a:cs typeface="Arial"/>
              </a:rPr>
              <a:t>  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265" dirty="0">
                <a:latin typeface="Arial"/>
                <a:cs typeface="Arial"/>
              </a:rPr>
              <a:t>   </a:t>
            </a:r>
            <a:r>
              <a:rPr sz="1000" i="1" dirty="0">
                <a:latin typeface="Arial"/>
                <a:cs typeface="Arial"/>
              </a:rPr>
              <a:t>Development</a:t>
            </a:r>
            <a:r>
              <a:rPr sz="1000" dirty="0">
                <a:latin typeface="Arial MT"/>
                <a:cs typeface="Arial MT"/>
              </a:rPr>
              <a:t>,</a:t>
            </a:r>
            <a:r>
              <a:rPr sz="1000" spc="265" dirty="0">
                <a:latin typeface="Arial MT"/>
                <a:cs typeface="Arial MT"/>
              </a:rPr>
              <a:t>   </a:t>
            </a:r>
            <a:r>
              <a:rPr sz="1000" dirty="0">
                <a:latin typeface="Arial MT"/>
                <a:cs typeface="Arial MT"/>
              </a:rPr>
              <a:t>vol.</a:t>
            </a:r>
            <a:r>
              <a:rPr sz="1000" spc="265" dirty="0">
                <a:latin typeface="Arial MT"/>
                <a:cs typeface="Arial MT"/>
              </a:rPr>
              <a:t>   </a:t>
            </a:r>
            <a:r>
              <a:rPr sz="1000" dirty="0">
                <a:latin typeface="Arial MT"/>
                <a:cs typeface="Arial MT"/>
              </a:rPr>
              <a:t>10,</a:t>
            </a:r>
            <a:r>
              <a:rPr sz="1000" spc="265" dirty="0">
                <a:latin typeface="Arial MT"/>
                <a:cs typeface="Arial MT"/>
              </a:rPr>
              <a:t>   </a:t>
            </a:r>
            <a:r>
              <a:rPr sz="1000" dirty="0">
                <a:latin typeface="Arial MT"/>
                <a:cs typeface="Arial MT"/>
              </a:rPr>
              <a:t>no.</a:t>
            </a:r>
            <a:r>
              <a:rPr sz="1000" spc="265" dirty="0">
                <a:latin typeface="Arial MT"/>
                <a:cs typeface="Arial MT"/>
              </a:rPr>
              <a:t>   </a:t>
            </a:r>
            <a:r>
              <a:rPr sz="1000" dirty="0">
                <a:latin typeface="Arial MT"/>
                <a:cs typeface="Arial MT"/>
              </a:rPr>
              <a:t>1,</a:t>
            </a:r>
            <a:r>
              <a:rPr sz="1000" spc="265" dirty="0">
                <a:latin typeface="Arial MT"/>
                <a:cs typeface="Arial MT"/>
              </a:rPr>
              <a:t>   </a:t>
            </a:r>
            <a:r>
              <a:rPr sz="1000" dirty="0">
                <a:latin typeface="Arial MT"/>
                <a:cs typeface="Arial MT"/>
              </a:rPr>
              <a:t>Jan.</a:t>
            </a:r>
            <a:r>
              <a:rPr sz="1000" spc="265" dirty="0">
                <a:latin typeface="Arial MT"/>
                <a:cs typeface="Arial MT"/>
              </a:rPr>
              <a:t>   </a:t>
            </a:r>
            <a:r>
              <a:rPr sz="1000" dirty="0">
                <a:latin typeface="Arial MT"/>
                <a:cs typeface="Arial MT"/>
              </a:rPr>
              <a:t>2025.</a:t>
            </a:r>
            <a:r>
              <a:rPr sz="1000" spc="260" dirty="0">
                <a:latin typeface="Arial MT"/>
                <a:cs typeface="Arial MT"/>
              </a:rPr>
              <a:t>   </a:t>
            </a:r>
            <a:r>
              <a:rPr sz="1000" dirty="0">
                <a:latin typeface="Arial MT"/>
                <a:cs typeface="Arial MT"/>
              </a:rPr>
              <a:t>[Online].</a:t>
            </a:r>
            <a:r>
              <a:rPr sz="1000" spc="265" dirty="0">
                <a:latin typeface="Arial MT"/>
                <a:cs typeface="Arial MT"/>
              </a:rPr>
              <a:t>   </a:t>
            </a:r>
            <a:r>
              <a:rPr sz="1000" spc="-10" dirty="0">
                <a:latin typeface="Arial MT"/>
                <a:cs typeface="Arial MT"/>
              </a:rPr>
              <a:t>Available: </a:t>
            </a:r>
            <a:r>
              <a:rPr sz="1000" spc="-10" dirty="0">
                <a:latin typeface="Arial MT"/>
                <a:cs typeface="Arial MT"/>
                <a:hlinkClick r:id="rId2"/>
              </a:rPr>
              <a:t>https://www.ijnrd.org/papers/IJNRD2501308.pdf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AutoNum type="arabicPlain" startAt="7"/>
            </a:pPr>
            <a:endParaRPr sz="1000">
              <a:latin typeface="Arial MT"/>
              <a:cs typeface="Arial MT"/>
            </a:endParaRPr>
          </a:p>
          <a:p>
            <a:pPr marL="12700" marR="5080" indent="177165" algn="just">
              <a:lnSpc>
                <a:spcPct val="114999"/>
              </a:lnSpc>
              <a:buAutoNum type="arabicPlain" startAt="7"/>
              <a:tabLst>
                <a:tab pos="189865" algn="l"/>
              </a:tabLst>
            </a:pPr>
            <a:r>
              <a:rPr sz="1000" dirty="0">
                <a:latin typeface="Arial MT"/>
                <a:cs typeface="Arial MT"/>
              </a:rPr>
              <a:t>S. Pede,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P. Kolekar,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A. Metkar,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 A.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Joshi, "Resume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Parsing and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Skill Extraction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Custom Pattern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Matching Algorithm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 Gemini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API," </a:t>
            </a:r>
            <a:r>
              <a:rPr sz="1000" i="1" dirty="0">
                <a:latin typeface="Arial"/>
                <a:cs typeface="Arial"/>
              </a:rPr>
              <a:t>8th</a:t>
            </a:r>
            <a:r>
              <a:rPr sz="1000" i="1" spc="14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International</a:t>
            </a:r>
            <a:r>
              <a:rPr sz="1000" i="1" spc="14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Conference</a:t>
            </a:r>
            <a:r>
              <a:rPr sz="1000" i="1" spc="14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on</a:t>
            </a:r>
            <a:r>
              <a:rPr sz="1000" i="1" spc="150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Computing,</a:t>
            </a:r>
            <a:r>
              <a:rPr sz="1000" i="1" spc="14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Communication,</a:t>
            </a:r>
            <a:r>
              <a:rPr sz="1000" i="1" spc="14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Control</a:t>
            </a:r>
            <a:r>
              <a:rPr sz="1000" i="1" spc="150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14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Automation</a:t>
            </a:r>
            <a:r>
              <a:rPr sz="1000" i="1" spc="14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(ICCUBEA)</a:t>
            </a:r>
            <a:r>
              <a:rPr sz="1000" dirty="0">
                <a:latin typeface="Arial MT"/>
                <a:cs typeface="Arial MT"/>
              </a:rPr>
              <a:t>,</a:t>
            </a:r>
            <a:r>
              <a:rPr sz="1000" spc="145" dirty="0">
                <a:latin typeface="Arial MT"/>
                <a:cs typeface="Arial MT"/>
              </a:rPr>
              <a:t>  </a:t>
            </a:r>
            <a:r>
              <a:rPr sz="1000" dirty="0">
                <a:latin typeface="Arial MT"/>
                <a:cs typeface="Arial MT"/>
              </a:rPr>
              <a:t>Aug.</a:t>
            </a:r>
            <a:r>
              <a:rPr sz="1000" spc="150" dirty="0">
                <a:latin typeface="Arial MT"/>
                <a:cs typeface="Arial MT"/>
              </a:rPr>
              <a:t>  </a:t>
            </a:r>
            <a:r>
              <a:rPr sz="1000" dirty="0">
                <a:latin typeface="Arial MT"/>
                <a:cs typeface="Arial MT"/>
              </a:rPr>
              <a:t>2024.</a:t>
            </a:r>
            <a:r>
              <a:rPr sz="1000" spc="145" dirty="0">
                <a:latin typeface="Arial MT"/>
                <a:cs typeface="Arial MT"/>
              </a:rPr>
              <a:t>  </a:t>
            </a:r>
            <a:r>
              <a:rPr sz="1000" dirty="0">
                <a:latin typeface="Arial MT"/>
                <a:cs typeface="Arial MT"/>
              </a:rPr>
              <a:t>[Online].</a:t>
            </a:r>
            <a:r>
              <a:rPr sz="1000" spc="145" dirty="0">
                <a:latin typeface="Arial MT"/>
                <a:cs typeface="Arial MT"/>
              </a:rPr>
              <a:t>  </a:t>
            </a:r>
            <a:r>
              <a:rPr sz="1000" spc="-10" dirty="0">
                <a:latin typeface="Arial MT"/>
                <a:cs typeface="Arial MT"/>
              </a:rPr>
              <a:t>Available: </a:t>
            </a:r>
            <a:r>
              <a:rPr sz="10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3"/>
              </a:rPr>
              <a:t>https://www.researchgate.net/publication/387922476_Resume_Parsing_and_Skill_Extraction_using_Custom_Pattern_Matching_algorithm_and_Ge</a:t>
            </a:r>
            <a:r>
              <a:rPr sz="1000" spc="-10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10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3"/>
              </a:rPr>
              <a:t>mini_API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 MT"/>
              <a:buAutoNum type="arabicPlain" startAt="7"/>
            </a:pPr>
            <a:endParaRPr sz="1000">
              <a:latin typeface="Arial MT"/>
              <a:cs typeface="Arial MT"/>
            </a:endParaRPr>
          </a:p>
          <a:p>
            <a:pPr marL="204470" indent="-191770" algn="just">
              <a:lnSpc>
                <a:spcPct val="100000"/>
              </a:lnSpc>
              <a:buAutoNum type="arabicPlain" startAt="7"/>
              <a:tabLst>
                <a:tab pos="204470" algn="l"/>
              </a:tabLst>
            </a:pPr>
            <a:r>
              <a:rPr sz="1000" dirty="0">
                <a:latin typeface="Arial MT"/>
                <a:cs typeface="Arial MT"/>
              </a:rPr>
              <a:t>B.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Sahu,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S.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Marju,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A.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Shikalgar,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D.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Rupnashwar,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"AI-</a:t>
            </a:r>
            <a:r>
              <a:rPr sz="1000" dirty="0">
                <a:latin typeface="Arial MT"/>
                <a:cs typeface="Arial MT"/>
              </a:rPr>
              <a:t>Powered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Resume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Screening: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Enhancing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Efficiency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Fairness,"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2025.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[Online].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Arial MT"/>
                <a:cs typeface="Arial MT"/>
              </a:rPr>
              <a:t>Available: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4"/>
              </a:rPr>
              <a:t>https://ijnrd.org/viewpaperforall.php?paper=IJNRD2506063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12700" marR="12065" indent="251460" algn="just">
              <a:lnSpc>
                <a:spcPct val="114999"/>
              </a:lnSpc>
              <a:buAutoNum type="arabicPlain" startAt="10"/>
              <a:tabLst>
                <a:tab pos="264160" algn="l"/>
              </a:tabLst>
            </a:pPr>
            <a:r>
              <a:rPr sz="1000" dirty="0">
                <a:latin typeface="Arial MT"/>
                <a:cs typeface="Arial MT"/>
              </a:rPr>
              <a:t>C.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Yadav,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R.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Dhakad,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Afroj,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M.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Panchal,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E.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B.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Kaur,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"Revolutionizing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Nearby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Accommodation: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in-</a:t>
            </a:r>
            <a:r>
              <a:rPr sz="1000" dirty="0">
                <a:latin typeface="Arial MT"/>
                <a:cs typeface="Arial MT"/>
              </a:rPr>
              <a:t>depth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Analysis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React.js,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Node.js, </a:t>
            </a:r>
            <a:r>
              <a:rPr sz="1000" dirty="0">
                <a:latin typeface="Arial MT"/>
                <a:cs typeface="Arial MT"/>
              </a:rPr>
              <a:t>MongoDB,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Express.js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Integration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Website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Development,"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International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Conference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on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Innovative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Computing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&amp;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Communication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(ICICC)</a:t>
            </a:r>
            <a:r>
              <a:rPr sz="1000" spc="-10" dirty="0">
                <a:latin typeface="Arial MT"/>
                <a:cs typeface="Arial MT"/>
              </a:rPr>
              <a:t>, </a:t>
            </a:r>
            <a:r>
              <a:rPr sz="1000" dirty="0">
                <a:latin typeface="Arial MT"/>
                <a:cs typeface="Arial MT"/>
              </a:rPr>
              <a:t>2024.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[Online].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Available: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u="sng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Arial MT"/>
                <a:cs typeface="Arial MT"/>
                <a:hlinkClick r:id="rId5"/>
              </a:rPr>
              <a:t>https://papers.ssrn.com/sol3/papers.cfm?abstract_id=4932790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AutoNum type="arabicPlain" startAt="10"/>
            </a:pPr>
            <a:endParaRPr sz="1000">
              <a:latin typeface="Arial MT"/>
              <a:cs typeface="Arial MT"/>
            </a:endParaRPr>
          </a:p>
          <a:p>
            <a:pPr marL="12700" marR="12065" indent="250825" algn="just">
              <a:lnSpc>
                <a:spcPct val="114999"/>
              </a:lnSpc>
              <a:buAutoNum type="arabicPlain" startAt="10"/>
              <a:tabLst>
                <a:tab pos="263525" algn="l"/>
              </a:tabLst>
            </a:pPr>
            <a:r>
              <a:rPr sz="1000" dirty="0">
                <a:latin typeface="Arial MT"/>
                <a:cs typeface="Arial MT"/>
              </a:rPr>
              <a:t>V.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Sahni,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A.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Chopde,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M.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Goswami,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A.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Kumar,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"MERN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(MongoDB,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Express.js,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React.js,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Node.js)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Stack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Web-</a:t>
            </a:r>
            <a:r>
              <a:rPr sz="1000" dirty="0">
                <a:latin typeface="Arial MT"/>
                <a:cs typeface="Arial MT"/>
              </a:rPr>
              <a:t>Based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Themefied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Education </a:t>
            </a:r>
            <a:r>
              <a:rPr sz="1000" dirty="0">
                <a:latin typeface="Arial MT"/>
                <a:cs typeface="Arial MT"/>
              </a:rPr>
              <a:t>Platform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Placement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Preparation,"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Educational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Administration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Theory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Practice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Journal,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vol.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30,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no.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5,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2024.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AutoNum type="arabicPlain" startAt="10"/>
            </a:pPr>
            <a:endParaRPr sz="1000">
              <a:latin typeface="Arial MT"/>
              <a:cs typeface="Arial MT"/>
            </a:endParaRPr>
          </a:p>
          <a:p>
            <a:pPr marL="12700" marR="8255" indent="248920" algn="just">
              <a:lnSpc>
                <a:spcPct val="114999"/>
              </a:lnSpc>
              <a:buAutoNum type="arabicPlain" startAt="10"/>
              <a:tabLst>
                <a:tab pos="261620" algn="l"/>
              </a:tabLst>
            </a:pPr>
            <a:r>
              <a:rPr sz="1000" dirty="0">
                <a:latin typeface="Arial MT"/>
                <a:cs typeface="Arial MT"/>
              </a:rPr>
              <a:t>C.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Yadav,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R.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Dhakad,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Afroj,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M.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Panchal,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E.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B.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Kaur,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"Revolutionizing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Near-by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Accommodation: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in-</a:t>
            </a:r>
            <a:r>
              <a:rPr sz="1000" dirty="0">
                <a:latin typeface="Arial MT"/>
                <a:cs typeface="Arial MT"/>
              </a:rPr>
              <a:t>depth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Analysis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React.js,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Node.js, </a:t>
            </a:r>
            <a:r>
              <a:rPr sz="1000" dirty="0">
                <a:latin typeface="Arial MT"/>
                <a:cs typeface="Arial MT"/>
              </a:rPr>
              <a:t>MongoDB,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Express.js</a:t>
            </a:r>
            <a:r>
              <a:rPr sz="1000" spc="2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Integration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Website</a:t>
            </a:r>
            <a:r>
              <a:rPr sz="1000" spc="2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Development,"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Proceedings</a:t>
            </a:r>
            <a:r>
              <a:rPr sz="1000" spc="2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International</a:t>
            </a:r>
            <a:r>
              <a:rPr sz="1000" spc="2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Conference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2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Innovative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Computing</a:t>
            </a:r>
            <a:r>
              <a:rPr sz="1000" spc="26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&amp; </a:t>
            </a:r>
            <a:r>
              <a:rPr sz="1000" dirty="0">
                <a:latin typeface="Arial MT"/>
                <a:cs typeface="Arial MT"/>
              </a:rPr>
              <a:t>Communication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(ICICC),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Aug.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2024.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AutoNum type="arabicPlain" startAt="10"/>
            </a:pPr>
            <a:endParaRPr sz="1000">
              <a:latin typeface="Arial MT"/>
              <a:cs typeface="Arial MT"/>
            </a:endParaRPr>
          </a:p>
          <a:p>
            <a:pPr marL="12700" marR="10160" indent="245745" algn="just">
              <a:lnSpc>
                <a:spcPct val="114999"/>
              </a:lnSpc>
              <a:buAutoNum type="arabicPlain" startAt="10"/>
              <a:tabLst>
                <a:tab pos="258445" algn="l"/>
              </a:tabLst>
            </a:pPr>
            <a:r>
              <a:rPr sz="1000" dirty="0">
                <a:latin typeface="Arial MT"/>
                <a:cs typeface="Arial MT"/>
              </a:rPr>
              <a:t>C.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Sravani,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"Constructing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Study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Buddy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Using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MERN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(MongoDB,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Express.js,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React,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Node.js)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Stack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Technologies,"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Engineering</a:t>
            </a:r>
            <a:r>
              <a:rPr sz="1000" spc="-10" dirty="0">
                <a:latin typeface="Arial MT"/>
                <a:cs typeface="Arial MT"/>
              </a:rPr>
              <a:t> Proceedings, </a:t>
            </a:r>
            <a:r>
              <a:rPr sz="1000" dirty="0">
                <a:latin typeface="Arial MT"/>
                <a:cs typeface="Arial MT"/>
              </a:rPr>
              <a:t>July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2024.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doi: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10.3390/engproc2024066027.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[Online].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Available: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https://doi.org/10.3390/engproc2024066027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65" y="6985"/>
            <a:ext cx="9083675" cy="552450"/>
            <a:chOff x="24765" y="6985"/>
            <a:chExt cx="9083675" cy="552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1338" y="32176"/>
              <a:ext cx="686528" cy="5092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8328899" y="520499"/>
                  </a:moveTo>
                  <a:lnTo>
                    <a:pt x="0" y="520499"/>
                  </a:lnTo>
                  <a:lnTo>
                    <a:pt x="0" y="0"/>
                  </a:lnTo>
                  <a:lnTo>
                    <a:pt x="8328899" y="0"/>
                  </a:lnTo>
                  <a:lnTo>
                    <a:pt x="8328899" y="520499"/>
                  </a:lnTo>
                  <a:close/>
                </a:path>
              </a:pathLst>
            </a:custGeom>
            <a:solidFill>
              <a:srgbClr val="0037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40" y="22860"/>
              <a:ext cx="8329295" cy="520700"/>
            </a:xfrm>
            <a:custGeom>
              <a:avLst/>
              <a:gdLst/>
              <a:ahLst/>
              <a:cxnLst/>
              <a:rect l="l" t="t" r="r" b="b"/>
              <a:pathLst>
                <a:path w="8329295" h="520700">
                  <a:moveTo>
                    <a:pt x="0" y="0"/>
                  </a:moveTo>
                  <a:lnTo>
                    <a:pt x="8328899" y="0"/>
                  </a:lnTo>
                  <a:lnTo>
                    <a:pt x="8328899" y="520499"/>
                  </a:lnTo>
                  <a:lnTo>
                    <a:pt x="0" y="520499"/>
                  </a:lnTo>
                  <a:lnTo>
                    <a:pt x="0" y="0"/>
                  </a:lnTo>
                  <a:close/>
                </a:path>
              </a:pathLst>
            </a:custGeom>
            <a:ln w="317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79119" y="4993676"/>
            <a:ext cx="7934959" cy="0"/>
          </a:xfrm>
          <a:custGeom>
            <a:avLst/>
            <a:gdLst/>
            <a:ahLst/>
            <a:cxnLst/>
            <a:rect l="l" t="t" r="r" b="b"/>
            <a:pathLst>
              <a:path w="7934959">
                <a:moveTo>
                  <a:pt x="0" y="0"/>
                </a:moveTo>
                <a:lnTo>
                  <a:pt x="7934959" y="0"/>
                </a:lnTo>
              </a:path>
            </a:pathLst>
          </a:custGeom>
          <a:ln w="9524">
            <a:solidFill>
              <a:srgbClr val="0054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45" dirty="0"/>
              <a:t> </a:t>
            </a:r>
            <a:r>
              <a:rPr b="0" spc="-10" dirty="0">
                <a:latin typeface="Times New Roman"/>
                <a:cs typeface="Times New Roman"/>
              </a:rPr>
              <a:t>(cont…)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25</a:t>
            </a:fld>
            <a:r>
              <a:rPr spc="-25" dirty="0"/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0675" y="581418"/>
            <a:ext cx="8431530" cy="428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6450" indent="267970">
              <a:lnSpc>
                <a:spcPct val="114999"/>
              </a:lnSpc>
              <a:spcBef>
                <a:spcPts val="100"/>
              </a:spcBef>
              <a:buAutoNum type="arabicPlain" startAt="14"/>
              <a:tabLst>
                <a:tab pos="280670" algn="l"/>
              </a:tabLst>
            </a:pPr>
            <a:r>
              <a:rPr sz="1100" dirty="0">
                <a:latin typeface="Arial MT"/>
                <a:cs typeface="Arial MT"/>
              </a:rPr>
              <a:t>C.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Onukwugha,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Ofoegbu,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Aliche,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Betrand,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"Resume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Optimization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Machine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Learning Techniques,"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International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Journal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Intelligent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Information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13,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pp.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109–116,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Oct.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doi: </a:t>
            </a:r>
            <a:r>
              <a:rPr sz="1100" spc="-10" dirty="0">
                <a:latin typeface="Arial MT"/>
                <a:cs typeface="Arial MT"/>
              </a:rPr>
              <a:t>10.11648/j.ijiis.20241305.12.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[Online].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Available: https://doi.org/10.11648/j.ijiis.20241305.12</a:t>
            </a:r>
            <a:endParaRPr sz="1100">
              <a:latin typeface="Arial MT"/>
              <a:cs typeface="Arial MT"/>
            </a:endParaRPr>
          </a:p>
          <a:p>
            <a:pPr marL="12700" marR="304165" indent="267970">
              <a:lnSpc>
                <a:spcPct val="114999"/>
              </a:lnSpc>
              <a:spcBef>
                <a:spcPts val="1200"/>
              </a:spcBef>
              <a:buAutoNum type="arabicPlain" startAt="14"/>
              <a:tabLst>
                <a:tab pos="280670" algn="l"/>
              </a:tabLst>
            </a:pPr>
            <a:r>
              <a:rPr sz="1100" dirty="0">
                <a:latin typeface="Arial MT"/>
                <a:cs typeface="Arial MT"/>
              </a:rPr>
              <a:t>C.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al.,</a:t>
            </a:r>
            <a:r>
              <a:rPr sz="1100" spc="-20" dirty="0">
                <a:latin typeface="Arial MT"/>
                <a:cs typeface="Arial MT"/>
              </a:rPr>
              <a:t> "Competence-</a:t>
            </a:r>
            <a:r>
              <a:rPr sz="1100" dirty="0">
                <a:latin typeface="Arial MT"/>
                <a:cs typeface="Arial MT"/>
              </a:rPr>
              <a:t>Level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Prediction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Resume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Job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Description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Matching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Models,"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arXiv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preprint arXiv:2006.XXXX</a:t>
            </a:r>
            <a:r>
              <a:rPr sz="1100" spc="-10" dirty="0">
                <a:latin typeface="Arial MT"/>
                <a:cs typeface="Arial MT"/>
              </a:rPr>
              <a:t>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2020.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AutoNum type="arabicPlain" startAt="14"/>
            </a:pPr>
            <a:endParaRPr sz="1100">
              <a:latin typeface="Arial MT"/>
              <a:cs typeface="Arial MT"/>
            </a:endParaRPr>
          </a:p>
          <a:p>
            <a:pPr marL="280670" indent="-267970">
              <a:lnSpc>
                <a:spcPct val="100000"/>
              </a:lnSpc>
              <a:buAutoNum type="arabicPlain" startAt="14"/>
              <a:tabLst>
                <a:tab pos="280670" algn="l"/>
              </a:tabLst>
            </a:pPr>
            <a:r>
              <a:rPr sz="1100" dirty="0">
                <a:latin typeface="Arial MT"/>
                <a:cs typeface="Arial MT"/>
              </a:rPr>
              <a:t>R.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Patil,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al.,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"Automated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Multimodal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Answer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Sheets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STEM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Domain,"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Papers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Code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2024.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AutoNum type="arabicPlain" startAt="14"/>
            </a:pPr>
            <a:endParaRPr sz="1100">
              <a:latin typeface="Arial MT"/>
              <a:cs typeface="Arial MT"/>
            </a:endParaRPr>
          </a:p>
          <a:p>
            <a:pPr marL="280670" indent="-267970">
              <a:lnSpc>
                <a:spcPct val="100000"/>
              </a:lnSpc>
              <a:buAutoNum type="arabicPlain" startAt="14"/>
              <a:tabLst>
                <a:tab pos="280670" algn="l"/>
              </a:tabLst>
            </a:pPr>
            <a:r>
              <a:rPr sz="1100" dirty="0">
                <a:latin typeface="Arial MT"/>
                <a:cs typeface="Arial MT"/>
              </a:rPr>
              <a:t>M.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Khan,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al.,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"Automated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C/C++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Programming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ODL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Environment,"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Papers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Code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2022.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AutoNum type="arabicPlain" startAt="14"/>
            </a:pPr>
            <a:endParaRPr sz="1100">
              <a:latin typeface="Arial MT"/>
              <a:cs typeface="Arial MT"/>
            </a:endParaRPr>
          </a:p>
          <a:p>
            <a:pPr marL="280670" indent="-267970">
              <a:lnSpc>
                <a:spcPct val="100000"/>
              </a:lnSpc>
              <a:spcBef>
                <a:spcPts val="5"/>
              </a:spcBef>
              <a:buAutoNum type="arabicPlain" startAt="14"/>
              <a:tabLst>
                <a:tab pos="280670" algn="l"/>
              </a:tabLst>
            </a:pPr>
            <a:r>
              <a:rPr sz="1100" dirty="0">
                <a:latin typeface="Arial MT"/>
                <a:cs typeface="Arial MT"/>
              </a:rPr>
              <a:t>P.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Sharma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Singh,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"Personalized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Job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Search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AI: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Skill-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Matching,"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IJERT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2023.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AutoNum type="arabicPlain" startAt="14"/>
            </a:pPr>
            <a:endParaRPr sz="1100">
              <a:latin typeface="Arial MT"/>
              <a:cs typeface="Arial MT"/>
            </a:endParaRPr>
          </a:p>
          <a:p>
            <a:pPr marL="280670" indent="-267970">
              <a:lnSpc>
                <a:spcPct val="100000"/>
              </a:lnSpc>
              <a:buAutoNum type="arabicPlain" startAt="14"/>
              <a:tabLst>
                <a:tab pos="280670" algn="l"/>
              </a:tabLst>
            </a:pPr>
            <a:r>
              <a:rPr sz="1100" spc="-10" dirty="0">
                <a:latin typeface="Arial MT"/>
                <a:cs typeface="Arial MT"/>
              </a:rPr>
              <a:t>"Personalized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Career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Roadmap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Generation,"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International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Journal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Novel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Research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Development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(IJNRD),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Issue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4,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100" dirty="0">
                <a:latin typeface="Arial MT"/>
                <a:cs typeface="Arial MT"/>
              </a:rPr>
              <a:t>April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ISSN: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2456-</a:t>
            </a:r>
            <a:r>
              <a:rPr sz="1100" dirty="0">
                <a:latin typeface="Arial MT"/>
                <a:cs typeface="Arial MT"/>
              </a:rPr>
              <a:t>4184.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[Online].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Available: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  <a:hlinkClick r:id="rId3"/>
              </a:rPr>
              <a:t>https://www.ijnrd.org/papers/IJNRD2504150.pdf</a:t>
            </a:r>
            <a:endParaRPr sz="1100">
              <a:latin typeface="Arial MT"/>
              <a:cs typeface="Arial MT"/>
            </a:endParaRPr>
          </a:p>
          <a:p>
            <a:pPr marL="12700" marR="9525" indent="313055">
              <a:lnSpc>
                <a:spcPct val="150000"/>
              </a:lnSpc>
              <a:spcBef>
                <a:spcPts val="675"/>
              </a:spcBef>
              <a:buAutoNum type="arabicPlain" startAt="20"/>
              <a:tabLst>
                <a:tab pos="325755" algn="l"/>
              </a:tabLst>
            </a:pP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Russell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Norvig,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"Search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Environments,"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Artificial</a:t>
            </a:r>
            <a:r>
              <a:rPr sz="1200" i="1" spc="1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Intelligence:</a:t>
            </a:r>
            <a:r>
              <a:rPr sz="1200" i="1" spc="1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1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Modern</a:t>
            </a:r>
            <a:r>
              <a:rPr sz="1200" i="1" spc="1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Approach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4th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Upper </a:t>
            </a:r>
            <a:r>
              <a:rPr sz="1200" dirty="0">
                <a:latin typeface="Times New Roman"/>
                <a:cs typeface="Times New Roman"/>
              </a:rPr>
              <a:t>Saddle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River,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NJ,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Pearson,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2020,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pp.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127–180.</a:t>
            </a:r>
            <a:endParaRPr sz="1200">
              <a:latin typeface="Times New Roman"/>
              <a:cs typeface="Times New Roman"/>
            </a:endParaRPr>
          </a:p>
          <a:p>
            <a:pPr marL="12700" marR="5080" indent="285115">
              <a:lnSpc>
                <a:spcPct val="150000"/>
              </a:lnSpc>
              <a:spcBef>
                <a:spcPts val="455"/>
              </a:spcBef>
              <a:buAutoNum type="arabicPlain" startAt="20"/>
              <a:tabLst>
                <a:tab pos="297815" algn="l"/>
              </a:tabLst>
            </a:pPr>
            <a:r>
              <a:rPr sz="1200" dirty="0">
                <a:latin typeface="Times New Roman"/>
                <a:cs typeface="Times New Roman"/>
              </a:rPr>
              <a:t>I.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Goodfellow,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Bengio,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Courville,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"Optimization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Models,"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Deep</a:t>
            </a:r>
            <a:r>
              <a:rPr sz="1200" i="1" spc="5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Learning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Cambridge,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USA: </a:t>
            </a:r>
            <a:r>
              <a:rPr sz="1200" dirty="0">
                <a:latin typeface="Times New Roman"/>
                <a:cs typeface="Times New Roman"/>
              </a:rPr>
              <a:t>MIT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2016,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pp.</a:t>
            </a:r>
            <a:r>
              <a:rPr sz="1200" spc="-10" dirty="0">
                <a:latin typeface="Times New Roman"/>
                <a:cs typeface="Times New Roman"/>
              </a:rPr>
              <a:t> 271–322.</a:t>
            </a:r>
            <a:endParaRPr sz="12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175"/>
              </a:spcBef>
              <a:buAutoNum type="arabicPlain" startAt="20"/>
              <a:tabLst>
                <a:tab pos="297815" algn="l"/>
              </a:tabLst>
            </a:pPr>
            <a:r>
              <a:rPr sz="1200" dirty="0">
                <a:latin typeface="Times New Roman"/>
                <a:cs typeface="Times New Roman"/>
              </a:rPr>
              <a:t>OpenAI,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"GPT-4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Report," </a:t>
            </a:r>
            <a:r>
              <a:rPr sz="1200" dirty="0">
                <a:latin typeface="Times New Roman"/>
                <a:cs typeface="Times New Roman"/>
              </a:rPr>
              <a:t>Mar.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2023.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[Online].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u="heavy" spc="-10" dirty="0">
                <a:solidFill>
                  <a:srgbClr val="002060"/>
                </a:solidFill>
                <a:uFill>
                  <a:solidFill>
                    <a:srgbClr val="002060"/>
                  </a:solidFill>
                </a:uFill>
                <a:latin typeface="Times New Roman"/>
                <a:cs typeface="Times New Roman"/>
                <a:hlinkClick r:id="rId4"/>
              </a:rPr>
              <a:t>https://arxiv.org/abs/2303.08774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45" dirty="0"/>
              <a:t> </a:t>
            </a:r>
            <a:r>
              <a:rPr b="0" spc="-10" dirty="0">
                <a:latin typeface="Times New Roman"/>
                <a:cs typeface="Times New Roman"/>
              </a:rPr>
              <a:t>(cont…)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26</a:t>
            </a:fld>
            <a:r>
              <a:rPr spc="-25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675" y="606056"/>
            <a:ext cx="8013700" cy="81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 indent="-291465">
              <a:lnSpc>
                <a:spcPct val="100000"/>
              </a:lnSpc>
              <a:spcBef>
                <a:spcPts val="100"/>
              </a:spcBef>
              <a:buAutoNum type="arabicPlain" startAt="23"/>
              <a:tabLst>
                <a:tab pos="304165" algn="l"/>
              </a:tabLst>
            </a:pPr>
            <a:r>
              <a:rPr sz="1200" dirty="0">
                <a:latin typeface="Times New Roman"/>
                <a:cs typeface="Times New Roman"/>
              </a:rPr>
              <a:t>Wikipedia,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</a:t>
            </a:r>
            <a:r>
              <a:rPr sz="1200" spc="-10" dirty="0">
                <a:solidFill>
                  <a:srgbClr val="202122"/>
                </a:solidFill>
                <a:latin typeface="Times New Roman"/>
                <a:cs typeface="Times New Roman"/>
              </a:rPr>
              <a:t>Retrieval-</a:t>
            </a:r>
            <a:r>
              <a:rPr sz="1200" dirty="0">
                <a:solidFill>
                  <a:srgbClr val="202122"/>
                </a:solidFill>
                <a:latin typeface="Times New Roman"/>
                <a:cs typeface="Times New Roman"/>
              </a:rPr>
              <a:t>augmented</a:t>
            </a:r>
            <a:r>
              <a:rPr sz="1200" spc="10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122"/>
                </a:solidFill>
                <a:latin typeface="Times New Roman"/>
                <a:cs typeface="Times New Roman"/>
              </a:rPr>
              <a:t>generation</a:t>
            </a:r>
            <a:r>
              <a:rPr sz="1200" spc="10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02122"/>
                </a:solidFill>
                <a:latin typeface="Times New Roman"/>
                <a:cs typeface="Times New Roman"/>
              </a:rPr>
              <a:t>(RAG)</a:t>
            </a:r>
            <a:r>
              <a:rPr sz="1200" spc="10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”.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en.wikipedia.org/wiki/Retrieval-augmented_generation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AutoNum type="arabicPlain" startAt="23"/>
            </a:pPr>
            <a:endParaRPr sz="1200">
              <a:latin typeface="Times New Roman"/>
              <a:cs typeface="Times New Roman"/>
            </a:endParaRPr>
          </a:p>
          <a:p>
            <a:pPr marL="12700" marR="5080" indent="267970">
              <a:lnSpc>
                <a:spcPct val="114999"/>
              </a:lnSpc>
              <a:buAutoNum type="arabicPlain" startAt="23"/>
              <a:tabLst>
                <a:tab pos="280670" algn="l"/>
              </a:tabLst>
            </a:pPr>
            <a:r>
              <a:rPr sz="1100" dirty="0">
                <a:latin typeface="Arial MT"/>
                <a:cs typeface="Arial MT"/>
              </a:rPr>
              <a:t>D.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Pandey,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"AI-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Recruitment: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Talent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Acquisition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Age,"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Journal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Artificial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Intelligence</a:t>
            </a:r>
            <a:r>
              <a:rPr sz="1100" spc="-25" dirty="0">
                <a:latin typeface="Arial MT"/>
                <a:cs typeface="Arial MT"/>
              </a:rPr>
              <a:t> and </a:t>
            </a:r>
            <a:r>
              <a:rPr sz="1100" spc="-10" dirty="0">
                <a:latin typeface="Arial MT"/>
                <a:cs typeface="Arial MT"/>
              </a:rPr>
              <a:t>Emerging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Technologies,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1742,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Feb.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2025.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338" y="32176"/>
            <a:ext cx="686528" cy="5092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9119" y="4993676"/>
            <a:ext cx="7934959" cy="0"/>
          </a:xfrm>
          <a:custGeom>
            <a:avLst/>
            <a:gdLst/>
            <a:ahLst/>
            <a:cxnLst/>
            <a:rect l="l" t="t" r="r" b="b"/>
            <a:pathLst>
              <a:path w="7934959">
                <a:moveTo>
                  <a:pt x="0" y="0"/>
                </a:moveTo>
                <a:lnTo>
                  <a:pt x="7934959" y="0"/>
                </a:lnTo>
              </a:path>
            </a:pathLst>
          </a:custGeom>
          <a:ln w="9524">
            <a:solidFill>
              <a:srgbClr val="0054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8822" y="3102533"/>
            <a:ext cx="8890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0000"/>
                </a:solidFill>
              </a:rPr>
              <a:t>Thanks</a:t>
            </a:r>
            <a:r>
              <a:rPr sz="1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9164" y="1997496"/>
            <a:ext cx="574253" cy="5742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Major</a:t>
            </a:r>
            <a:r>
              <a:rPr spc="-10" dirty="0"/>
              <a:t> Project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(18B19CI791)</a:t>
            </a:r>
            <a:r>
              <a:rPr spc="-5" dirty="0"/>
              <a:t> </a:t>
            </a:r>
            <a:r>
              <a:rPr spc="-10" dirty="0"/>
              <a:t>Mid-</a:t>
            </a:r>
            <a:r>
              <a:rPr dirty="0"/>
              <a:t>Term</a:t>
            </a:r>
            <a:r>
              <a:rPr spc="-10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dirty="0"/>
              <a:t>|</a:t>
            </a:r>
            <a:r>
              <a:rPr spc="-10" dirty="0"/>
              <a:t> Department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|</a:t>
            </a:r>
            <a:r>
              <a:rPr spc="-10" dirty="0"/>
              <a:t> </a:t>
            </a:r>
            <a:r>
              <a:rPr dirty="0"/>
              <a:t>AY</a:t>
            </a:r>
            <a:r>
              <a:rPr spc="-10" dirty="0"/>
              <a:t> </a:t>
            </a:r>
            <a:r>
              <a:rPr dirty="0"/>
              <a:t>2025-</a:t>
            </a:r>
            <a:r>
              <a:rPr spc="-25" dirty="0"/>
              <a:t>26.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5" dirty="0"/>
              <a:t>27</a:t>
            </a:fld>
            <a:r>
              <a:rPr spc="-25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4951</Words>
  <Application>Microsoft Office PowerPoint</Application>
  <PresentationFormat>On-screen Show (16:9)</PresentationFormat>
  <Paragraphs>510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Arial MT</vt:lpstr>
      <vt:lpstr>Times New Roman</vt:lpstr>
      <vt:lpstr>Office Theme</vt:lpstr>
      <vt:lpstr>Jaypee University of Information Technology</vt:lpstr>
      <vt:lpstr>Outline</vt:lpstr>
      <vt:lpstr>Introduction</vt:lpstr>
      <vt:lpstr>Problem Statement</vt:lpstr>
      <vt:lpstr>Objectives</vt:lpstr>
      <vt:lpstr>Literature Review</vt:lpstr>
      <vt:lpstr>Literature Review (cont…)</vt:lpstr>
      <vt:lpstr>Literature Review (cont…)</vt:lpstr>
      <vt:lpstr>Literature Review (cont…)</vt:lpstr>
      <vt:lpstr>Literature Review (cont…)</vt:lpstr>
      <vt:lpstr>Project Design</vt:lpstr>
      <vt:lpstr>Project Design (cont…)</vt:lpstr>
      <vt:lpstr>Project Design (cont…)</vt:lpstr>
      <vt:lpstr>Tools, Technologies and Languages</vt:lpstr>
      <vt:lpstr>Tools, Technologies and Languages (cont…)</vt:lpstr>
      <vt:lpstr>Tools, Technologies and Languages (cont…)</vt:lpstr>
      <vt:lpstr>Dataset</vt:lpstr>
      <vt:lpstr>Key Learnings</vt:lpstr>
      <vt:lpstr>Work Plan till End-Term Evaluation</vt:lpstr>
      <vt:lpstr>Project Plan</vt:lpstr>
      <vt:lpstr>Work Contribution and Attendance</vt:lpstr>
      <vt:lpstr>Supervisor Interactions (as mentioned in weekly log)</vt:lpstr>
      <vt:lpstr>References</vt:lpstr>
      <vt:lpstr>References (cont…)</vt:lpstr>
      <vt:lpstr>References (cont…)</vt:lpstr>
      <vt:lpstr>References (cont…)</vt:lpstr>
      <vt:lpstr>Thanks.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Udit Sharma</cp:lastModifiedBy>
  <cp:revision>1</cp:revision>
  <dcterms:created xsi:type="dcterms:W3CDTF">2025-10-02T17:12:29Z</dcterms:created>
  <dcterms:modified xsi:type="dcterms:W3CDTF">2025-10-02T17:15:33Z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2025-10-02T00:00:00Z</vt:filetime>
  </property>
</Properties>
</file>